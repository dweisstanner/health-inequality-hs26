
<file path=[Content_Types].xml><?xml version="1.0" encoding="utf-8"?>
<Types xmlns="http://schemas.openxmlformats.org/package/2006/content-types">
  <Default Extension="bin" ContentType="image/png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2"/>
  </p:sldMasterIdLst>
  <p:notesMasterIdLst>
    <p:notesMasterId r:id="rId25"/>
  </p:notesMasterIdLst>
  <p:handoutMasterIdLst>
    <p:handoutMasterId r:id="rId26"/>
  </p:handoutMasterIdLst>
  <p:sldIdLst>
    <p:sldId id="256" r:id="rId3"/>
    <p:sldId id="310" r:id="rId4"/>
    <p:sldId id="315" r:id="rId5"/>
    <p:sldId id="316" r:id="rId6"/>
    <p:sldId id="317" r:id="rId7"/>
    <p:sldId id="318" r:id="rId8"/>
    <p:sldId id="319" r:id="rId9"/>
    <p:sldId id="314" r:id="rId10"/>
    <p:sldId id="325" r:id="rId11"/>
    <p:sldId id="320" r:id="rId12"/>
    <p:sldId id="321" r:id="rId13"/>
    <p:sldId id="323" r:id="rId14"/>
    <p:sldId id="322" r:id="rId15"/>
    <p:sldId id="324" r:id="rId16"/>
    <p:sldId id="326" r:id="rId17"/>
    <p:sldId id="312" r:id="rId18"/>
    <p:sldId id="309" r:id="rId19"/>
    <p:sldId id="311" r:id="rId20"/>
    <p:sldId id="313" r:id="rId21"/>
    <p:sldId id="327" r:id="rId22"/>
    <p:sldId id="306" r:id="rId23"/>
    <p:sldId id="307" r:id="rId24"/>
  </p:sldIdLst>
  <p:sldSz cx="10944225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8B4"/>
    <a:srgbClr val="111111"/>
    <a:srgbClr val="4D4D4D"/>
    <a:srgbClr val="777777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Mittlere Formatvorlage 3 - 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6780" autoAdjust="0"/>
  </p:normalViewPr>
  <p:slideViewPr>
    <p:cSldViewPr snapToGrid="0" showGuides="1">
      <p:cViewPr varScale="1">
        <p:scale>
          <a:sx n="83" d="100"/>
          <a:sy n="83" d="100"/>
        </p:scale>
        <p:origin x="1013" y="62"/>
      </p:cViewPr>
      <p:guideLst/>
    </p:cSldViewPr>
  </p:slideViewPr>
  <p:outlineViewPr>
    <p:cViewPr>
      <p:scale>
        <a:sx n="33" d="100"/>
        <a:sy n="33" d="100"/>
      </p:scale>
      <p:origin x="0" y="-1040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2" d="100"/>
          <a:sy n="82" d="100"/>
        </p:scale>
        <p:origin x="387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sstanner David" userId="266fc2ed-3807-4c7d-8f60-d5f3ae3c0b34" providerId="ADAL" clId="{80B64FD0-C8DF-4C77-A6B7-6E88F1C3DF75}"/>
    <pc:docChg chg="undo custSel addSld delSld modSld sldOrd">
      <pc:chgData name="Weisstanner David" userId="266fc2ed-3807-4c7d-8f60-d5f3ae3c0b34" providerId="ADAL" clId="{80B64FD0-C8DF-4C77-A6B7-6E88F1C3DF75}" dt="2025-10-06T10:24:24.723" v="7569" actId="14734"/>
      <pc:docMkLst>
        <pc:docMk/>
      </pc:docMkLst>
      <pc:sldChg chg="modSp mod modNotesTx">
        <pc:chgData name="Weisstanner David" userId="266fc2ed-3807-4c7d-8f60-d5f3ae3c0b34" providerId="ADAL" clId="{80B64FD0-C8DF-4C77-A6B7-6E88F1C3DF75}" dt="2025-10-03T13:52:43.975" v="7237" actId="6549"/>
        <pc:sldMkLst>
          <pc:docMk/>
          <pc:sldMk cId="880537261" sldId="256"/>
        </pc:sldMkLst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880537261" sldId="256"/>
            <ac:spMk id="3" creationId="{1C813FDB-2757-6E2D-8B33-097B6E97B20B}"/>
          </ac:spMkLst>
        </pc:spChg>
      </pc:sldChg>
      <pc:sldChg chg="modSp mod">
        <pc:chgData name="Weisstanner David" userId="266fc2ed-3807-4c7d-8f60-d5f3ae3c0b34" providerId="ADAL" clId="{80B64FD0-C8DF-4C77-A6B7-6E88F1C3DF75}" dt="2025-10-03T14:04:30.831" v="7419" actId="948"/>
        <pc:sldMkLst>
          <pc:docMk/>
          <pc:sldMk cId="3507746981" sldId="306"/>
        </pc:sldMkLst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3507746981" sldId="306"/>
            <ac:spMk id="2" creationId="{EFB5E6B2-79C6-8921-4E1E-DB50CF512C41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3507746981" sldId="306"/>
            <ac:spMk id="3" creationId="{163632CE-87A4-FBDA-C335-1F02410E899D}"/>
          </ac:spMkLst>
        </pc:spChg>
        <pc:spChg chg="mod">
          <ac:chgData name="Weisstanner David" userId="266fc2ed-3807-4c7d-8f60-d5f3ae3c0b34" providerId="ADAL" clId="{80B64FD0-C8DF-4C77-A6B7-6E88F1C3DF75}" dt="2025-10-03T14:04:30.831" v="7419" actId="948"/>
          <ac:spMkLst>
            <pc:docMk/>
            <pc:sldMk cId="3507746981" sldId="306"/>
            <ac:spMk id="4" creationId="{E46C947E-F350-568D-D0AA-539392C2712E}"/>
          </ac:spMkLst>
        </pc:spChg>
      </pc:sldChg>
      <pc:sldChg chg="modSp mod">
        <pc:chgData name="Weisstanner David" userId="266fc2ed-3807-4c7d-8f60-d5f3ae3c0b34" providerId="ADAL" clId="{80B64FD0-C8DF-4C77-A6B7-6E88F1C3DF75}" dt="2025-10-03T13:57:39.745" v="7267" actId="2710"/>
        <pc:sldMkLst>
          <pc:docMk/>
          <pc:sldMk cId="3111741107" sldId="307"/>
        </pc:sldMkLst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3111741107" sldId="307"/>
            <ac:spMk id="2" creationId="{C3DD29B7-B65B-DED0-D6C8-C8C8DF4EF175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3111741107" sldId="307"/>
            <ac:spMk id="3" creationId="{AC92A160-F563-D402-3115-22953A7A9860}"/>
          </ac:spMkLst>
        </pc:spChg>
        <pc:spChg chg="mod">
          <ac:chgData name="Weisstanner David" userId="266fc2ed-3807-4c7d-8f60-d5f3ae3c0b34" providerId="ADAL" clId="{80B64FD0-C8DF-4C77-A6B7-6E88F1C3DF75}" dt="2025-10-03T13:57:39.745" v="7267" actId="2710"/>
          <ac:spMkLst>
            <pc:docMk/>
            <pc:sldMk cId="3111741107" sldId="307"/>
            <ac:spMk id="4" creationId="{C3C40011-4FED-A2D5-39BC-2B1AC94B5720}"/>
          </ac:spMkLst>
        </pc:spChg>
      </pc:sldChg>
      <pc:sldChg chg="addSp delSp modSp new del mod">
        <pc:chgData name="Weisstanner David" userId="266fc2ed-3807-4c7d-8f60-d5f3ae3c0b34" providerId="ADAL" clId="{80B64FD0-C8DF-4C77-A6B7-6E88F1C3DF75}" dt="2025-10-03T04:35:39.853" v="4371" actId="47"/>
        <pc:sldMkLst>
          <pc:docMk/>
          <pc:sldMk cId="2406645092" sldId="308"/>
        </pc:sldMkLst>
      </pc:sldChg>
      <pc:sldChg chg="del">
        <pc:chgData name="Weisstanner David" userId="266fc2ed-3807-4c7d-8f60-d5f3ae3c0b34" providerId="ADAL" clId="{80B64FD0-C8DF-4C77-A6B7-6E88F1C3DF75}" dt="2025-09-29T07:33:54.798" v="16" actId="47"/>
        <pc:sldMkLst>
          <pc:docMk/>
          <pc:sldMk cId="2813678566" sldId="308"/>
        </pc:sldMkLst>
      </pc:sldChg>
      <pc:sldChg chg="modSp new mod">
        <pc:chgData name="Weisstanner David" userId="266fc2ed-3807-4c7d-8f60-d5f3ae3c0b34" providerId="ADAL" clId="{80B64FD0-C8DF-4C77-A6B7-6E88F1C3DF75}" dt="2025-10-03T13:52:35.177" v="7236" actId="790"/>
        <pc:sldMkLst>
          <pc:docMk/>
          <pc:sldMk cId="429533967" sldId="309"/>
        </pc:sldMkLst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429533967" sldId="309"/>
            <ac:spMk id="2" creationId="{B2E47155-854A-3031-041E-BA9C8A7FE506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429533967" sldId="309"/>
            <ac:spMk id="3" creationId="{0AE78BEC-6EDC-01A0-8C41-870E3CA5CF69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429533967" sldId="309"/>
            <ac:spMk id="4" creationId="{AE247037-98EF-1059-BAA0-58A5FD091768}"/>
          </ac:spMkLst>
        </pc:spChg>
      </pc:sldChg>
      <pc:sldChg chg="del">
        <pc:chgData name="Weisstanner David" userId="266fc2ed-3807-4c7d-8f60-d5f3ae3c0b34" providerId="ADAL" clId="{80B64FD0-C8DF-4C77-A6B7-6E88F1C3DF75}" dt="2025-09-29T07:33:54.798" v="16" actId="47"/>
        <pc:sldMkLst>
          <pc:docMk/>
          <pc:sldMk cId="3112415853" sldId="309"/>
        </pc:sldMkLst>
      </pc:sldChg>
      <pc:sldChg chg="addSp delSp modSp new mod">
        <pc:chgData name="Weisstanner David" userId="266fc2ed-3807-4c7d-8f60-d5f3ae3c0b34" providerId="ADAL" clId="{80B64FD0-C8DF-4C77-A6B7-6E88F1C3DF75}" dt="2025-10-06T10:24:24.723" v="7569" actId="14734"/>
        <pc:sldMkLst>
          <pc:docMk/>
          <pc:sldMk cId="4241624400" sldId="310"/>
        </pc:sldMkLst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4241624400" sldId="310"/>
            <ac:spMk id="2" creationId="{DD2A2B7D-35B9-32BF-2C70-AC540511B454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4241624400" sldId="310"/>
            <ac:spMk id="3" creationId="{F3704481-03FF-0CC8-CA40-B30E33B5C8A3}"/>
          </ac:spMkLst>
        </pc:spChg>
        <pc:graphicFrameChg chg="add mod modGraphic">
          <ac:chgData name="Weisstanner David" userId="266fc2ed-3807-4c7d-8f60-d5f3ae3c0b34" providerId="ADAL" clId="{80B64FD0-C8DF-4C77-A6B7-6E88F1C3DF75}" dt="2025-10-06T10:24:24.723" v="7569" actId="14734"/>
          <ac:graphicFrameMkLst>
            <pc:docMk/>
            <pc:sldMk cId="4241624400" sldId="310"/>
            <ac:graphicFrameMk id="5" creationId="{D746E312-CF64-C4E5-B3F9-927E19578FEE}"/>
          </ac:graphicFrameMkLst>
        </pc:graphicFrameChg>
      </pc:sldChg>
      <pc:sldChg chg="modSp new mod">
        <pc:chgData name="Weisstanner David" userId="266fc2ed-3807-4c7d-8f60-d5f3ae3c0b34" providerId="ADAL" clId="{80B64FD0-C8DF-4C77-A6B7-6E88F1C3DF75}" dt="2025-10-03T13:52:35.177" v="7236" actId="790"/>
        <pc:sldMkLst>
          <pc:docMk/>
          <pc:sldMk cId="838857998" sldId="311"/>
        </pc:sldMkLst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838857998" sldId="311"/>
            <ac:spMk id="2" creationId="{56F7A8B2-2F99-3B85-A9E3-DF51F273B4AC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838857998" sldId="311"/>
            <ac:spMk id="3" creationId="{D5E8DA0E-26C5-CDAA-A761-5FBCBD97F205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838857998" sldId="311"/>
            <ac:spMk id="4" creationId="{0699E4B1-3BF7-BCBF-0740-B1D504CF1D2E}"/>
          </ac:spMkLst>
        </pc:spChg>
      </pc:sldChg>
      <pc:sldChg chg="del">
        <pc:chgData name="Weisstanner David" userId="266fc2ed-3807-4c7d-8f60-d5f3ae3c0b34" providerId="ADAL" clId="{80B64FD0-C8DF-4C77-A6B7-6E88F1C3DF75}" dt="2025-09-29T07:33:54.798" v="16" actId="47"/>
        <pc:sldMkLst>
          <pc:docMk/>
          <pc:sldMk cId="3323945662" sldId="311"/>
        </pc:sldMkLst>
      </pc:sldChg>
      <pc:sldChg chg="addSp modSp new mod ord">
        <pc:chgData name="Weisstanner David" userId="266fc2ed-3807-4c7d-8f60-d5f3ae3c0b34" providerId="ADAL" clId="{80B64FD0-C8DF-4C77-A6B7-6E88F1C3DF75}" dt="2025-10-03T13:52:35.177" v="7236" actId="790"/>
        <pc:sldMkLst>
          <pc:docMk/>
          <pc:sldMk cId="473783761" sldId="312"/>
        </pc:sldMkLst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473783761" sldId="312"/>
            <ac:spMk id="2" creationId="{31FDA27C-E6C9-2093-2F97-2822EE729EB4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473783761" sldId="312"/>
            <ac:spMk id="3" creationId="{6585B76E-E92E-403B-9637-E504D0C0A698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473783761" sldId="312"/>
            <ac:spMk id="4" creationId="{B373FCD6-6A18-66E4-8DCE-FBA4CD8AF3D2}"/>
          </ac:spMkLst>
        </pc:spChg>
        <pc:picChg chg="add mod">
          <ac:chgData name="Weisstanner David" userId="266fc2ed-3807-4c7d-8f60-d5f3ae3c0b34" providerId="ADAL" clId="{80B64FD0-C8DF-4C77-A6B7-6E88F1C3DF75}" dt="2025-10-02T12:56:43.934" v="1388" actId="1076"/>
          <ac:picMkLst>
            <pc:docMk/>
            <pc:sldMk cId="473783761" sldId="312"/>
            <ac:picMk id="1026" creationId="{AB745640-692A-4F50-1D9D-0F40C8404779}"/>
          </ac:picMkLst>
        </pc:picChg>
      </pc:sldChg>
      <pc:sldChg chg="del">
        <pc:chgData name="Weisstanner David" userId="266fc2ed-3807-4c7d-8f60-d5f3ae3c0b34" providerId="ADAL" clId="{80B64FD0-C8DF-4C77-A6B7-6E88F1C3DF75}" dt="2025-09-29T07:33:54.798" v="16" actId="47"/>
        <pc:sldMkLst>
          <pc:docMk/>
          <pc:sldMk cId="570314068" sldId="312"/>
        </pc:sldMkLst>
      </pc:sldChg>
      <pc:sldChg chg="addSp modSp new mod">
        <pc:chgData name="Weisstanner David" userId="266fc2ed-3807-4c7d-8f60-d5f3ae3c0b34" providerId="ADAL" clId="{80B64FD0-C8DF-4C77-A6B7-6E88F1C3DF75}" dt="2025-10-03T13:56:20.048" v="7260" actId="1076"/>
        <pc:sldMkLst>
          <pc:docMk/>
          <pc:sldMk cId="1269281058" sldId="313"/>
        </pc:sldMkLst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1269281058" sldId="313"/>
            <ac:spMk id="2" creationId="{B201B21D-C0B5-30A0-D0CF-93C958FF7596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1269281058" sldId="313"/>
            <ac:spMk id="3" creationId="{3F0B918F-0EB1-DA23-59B8-AFBB1AE38CEC}"/>
          </ac:spMkLst>
        </pc:spChg>
        <pc:spChg chg="mod">
          <ac:chgData name="Weisstanner David" userId="266fc2ed-3807-4c7d-8f60-d5f3ae3c0b34" providerId="ADAL" clId="{80B64FD0-C8DF-4C77-A6B7-6E88F1C3DF75}" dt="2025-10-03T13:55:47.970" v="7250" actId="14100"/>
          <ac:spMkLst>
            <pc:docMk/>
            <pc:sldMk cId="1269281058" sldId="313"/>
            <ac:spMk id="4" creationId="{5988C250-49B4-113E-DDAB-6E5D35A94025}"/>
          </ac:spMkLst>
        </pc:spChg>
        <pc:picChg chg="add mod modCrop">
          <ac:chgData name="Weisstanner David" userId="266fc2ed-3807-4c7d-8f60-d5f3ae3c0b34" providerId="ADAL" clId="{80B64FD0-C8DF-4C77-A6B7-6E88F1C3DF75}" dt="2025-10-03T13:56:20.048" v="7260" actId="1076"/>
          <ac:picMkLst>
            <pc:docMk/>
            <pc:sldMk cId="1269281058" sldId="313"/>
            <ac:picMk id="6" creationId="{B509DD0E-77BB-1D93-04BF-9F2AF022D120}"/>
          </ac:picMkLst>
        </pc:picChg>
      </pc:sldChg>
      <pc:sldChg chg="del">
        <pc:chgData name="Weisstanner David" userId="266fc2ed-3807-4c7d-8f60-d5f3ae3c0b34" providerId="ADAL" clId="{80B64FD0-C8DF-4C77-A6B7-6E88F1C3DF75}" dt="2025-09-29T07:33:54.798" v="16" actId="47"/>
        <pc:sldMkLst>
          <pc:docMk/>
          <pc:sldMk cId="3919808122" sldId="313"/>
        </pc:sldMkLst>
      </pc:sldChg>
      <pc:sldChg chg="addSp delSp modSp new mod ord">
        <pc:chgData name="Weisstanner David" userId="266fc2ed-3807-4c7d-8f60-d5f3ae3c0b34" providerId="ADAL" clId="{80B64FD0-C8DF-4C77-A6B7-6E88F1C3DF75}" dt="2025-10-03T13:52:35.177" v="7236" actId="790"/>
        <pc:sldMkLst>
          <pc:docMk/>
          <pc:sldMk cId="1503356226" sldId="314"/>
        </pc:sldMkLst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1503356226" sldId="314"/>
            <ac:spMk id="2" creationId="{7EFFE63A-B43C-BDD6-76CF-792701120433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1503356226" sldId="314"/>
            <ac:spMk id="3" creationId="{A4940C01-76B3-5B8E-7F06-A93FCFBE3412}"/>
          </ac:spMkLst>
        </pc:spChg>
        <pc:spChg chg="add 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1503356226" sldId="314"/>
            <ac:spMk id="9" creationId="{753D9315-5502-567D-5F54-AEAF076B0ADC}"/>
          </ac:spMkLst>
        </pc:spChg>
        <pc:spChg chg="add 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1503356226" sldId="314"/>
            <ac:spMk id="10" creationId="{3B367292-878A-0344-E3B8-5932A32D1A4A}"/>
          </ac:spMkLst>
        </pc:spChg>
        <pc:picChg chg="add mod">
          <ac:chgData name="Weisstanner David" userId="266fc2ed-3807-4c7d-8f60-d5f3ae3c0b34" providerId="ADAL" clId="{80B64FD0-C8DF-4C77-A6B7-6E88F1C3DF75}" dt="2025-10-02T20:53:27.397" v="3091" actId="14100"/>
          <ac:picMkLst>
            <pc:docMk/>
            <pc:sldMk cId="1503356226" sldId="314"/>
            <ac:picMk id="6" creationId="{5F047E1F-8F5F-33EB-29E2-C0E9CB2FF8E6}"/>
          </ac:picMkLst>
        </pc:picChg>
        <pc:picChg chg="add mod">
          <ac:chgData name="Weisstanner David" userId="266fc2ed-3807-4c7d-8f60-d5f3ae3c0b34" providerId="ADAL" clId="{80B64FD0-C8DF-4C77-A6B7-6E88F1C3DF75}" dt="2025-10-02T20:22:21.949" v="2591" actId="1036"/>
          <ac:picMkLst>
            <pc:docMk/>
            <pc:sldMk cId="1503356226" sldId="314"/>
            <ac:picMk id="8" creationId="{C617D740-9E02-3B7D-66C2-4F40B069E3ED}"/>
          </ac:picMkLst>
        </pc:picChg>
      </pc:sldChg>
      <pc:sldChg chg="del">
        <pc:chgData name="Weisstanner David" userId="266fc2ed-3807-4c7d-8f60-d5f3ae3c0b34" providerId="ADAL" clId="{80B64FD0-C8DF-4C77-A6B7-6E88F1C3DF75}" dt="2025-09-29T07:33:54.798" v="16" actId="47"/>
        <pc:sldMkLst>
          <pc:docMk/>
          <pc:sldMk cId="3373980219" sldId="314"/>
        </pc:sldMkLst>
      </pc:sldChg>
      <pc:sldChg chg="del">
        <pc:chgData name="Weisstanner David" userId="266fc2ed-3807-4c7d-8f60-d5f3ae3c0b34" providerId="ADAL" clId="{80B64FD0-C8DF-4C77-A6B7-6E88F1C3DF75}" dt="2025-09-29T07:33:54.798" v="16" actId="47"/>
        <pc:sldMkLst>
          <pc:docMk/>
          <pc:sldMk cId="217465847" sldId="315"/>
        </pc:sldMkLst>
      </pc:sldChg>
      <pc:sldChg chg="addSp delSp modSp new mod">
        <pc:chgData name="Weisstanner David" userId="266fc2ed-3807-4c7d-8f60-d5f3ae3c0b34" providerId="ADAL" clId="{80B64FD0-C8DF-4C77-A6B7-6E88F1C3DF75}" dt="2025-10-03T13:52:35.177" v="7236" actId="790"/>
        <pc:sldMkLst>
          <pc:docMk/>
          <pc:sldMk cId="1909864766" sldId="315"/>
        </pc:sldMkLst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1909864766" sldId="315"/>
            <ac:spMk id="2" creationId="{AA0D8F80-A8D8-F23D-5EFF-5268D89BFBD0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1909864766" sldId="315"/>
            <ac:spMk id="3" creationId="{2BD8763B-8AB8-06C6-BDD7-C49F4B99A736}"/>
          </ac:spMkLst>
        </pc:spChg>
        <pc:graphicFrameChg chg="add mod modGraphic">
          <ac:chgData name="Weisstanner David" userId="266fc2ed-3807-4c7d-8f60-d5f3ae3c0b34" providerId="ADAL" clId="{80B64FD0-C8DF-4C77-A6B7-6E88F1C3DF75}" dt="2025-10-03T13:52:35.177" v="7236" actId="790"/>
          <ac:graphicFrameMkLst>
            <pc:docMk/>
            <pc:sldMk cId="1909864766" sldId="315"/>
            <ac:graphicFrameMk id="7" creationId="{A979872F-5AE7-2E1D-00A7-B1F7B9921363}"/>
          </ac:graphicFrameMkLst>
        </pc:graphicFrameChg>
      </pc:sldChg>
      <pc:sldChg chg="addSp delSp modSp add mod">
        <pc:chgData name="Weisstanner David" userId="266fc2ed-3807-4c7d-8f60-d5f3ae3c0b34" providerId="ADAL" clId="{80B64FD0-C8DF-4C77-A6B7-6E88F1C3DF75}" dt="2025-10-03T13:52:35.177" v="7236" actId="790"/>
        <pc:sldMkLst>
          <pc:docMk/>
          <pc:sldMk cId="1032628213" sldId="316"/>
        </pc:sldMkLst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1032628213" sldId="316"/>
            <ac:spMk id="2" creationId="{61D9DF34-5AED-6A8F-7291-CB19FA1771E5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1032628213" sldId="316"/>
            <ac:spMk id="3" creationId="{31E3086B-E5A7-A890-A4BC-861CC2AEB4BD}"/>
          </ac:spMkLst>
        </pc:spChg>
        <pc:spChg chg="add 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1032628213" sldId="316"/>
            <ac:spMk id="7" creationId="{3E302D33-E2E9-BB64-F2EF-6F5287CD76A5}"/>
          </ac:spMkLst>
        </pc:spChg>
        <pc:graphicFrameChg chg="add mod modGraphic">
          <ac:chgData name="Weisstanner David" userId="266fc2ed-3807-4c7d-8f60-d5f3ae3c0b34" providerId="ADAL" clId="{80B64FD0-C8DF-4C77-A6B7-6E88F1C3DF75}" dt="2025-10-03T13:52:35.177" v="7236" actId="790"/>
          <ac:graphicFrameMkLst>
            <pc:docMk/>
            <pc:sldMk cId="1032628213" sldId="316"/>
            <ac:graphicFrameMk id="4" creationId="{21F04270-A1C7-6863-3053-C5C72C949EE6}"/>
          </ac:graphicFrameMkLst>
        </pc:graphicFrameChg>
      </pc:sldChg>
      <pc:sldChg chg="del">
        <pc:chgData name="Weisstanner David" userId="266fc2ed-3807-4c7d-8f60-d5f3ae3c0b34" providerId="ADAL" clId="{80B64FD0-C8DF-4C77-A6B7-6E88F1C3DF75}" dt="2025-09-29T07:33:54.798" v="16" actId="47"/>
        <pc:sldMkLst>
          <pc:docMk/>
          <pc:sldMk cId="3070472194" sldId="316"/>
        </pc:sldMkLst>
      </pc:sldChg>
      <pc:sldChg chg="addSp delSp modSp new mod ord">
        <pc:chgData name="Weisstanner David" userId="266fc2ed-3807-4c7d-8f60-d5f3ae3c0b34" providerId="ADAL" clId="{80B64FD0-C8DF-4C77-A6B7-6E88F1C3DF75}" dt="2025-10-03T13:52:35.177" v="7236" actId="790"/>
        <pc:sldMkLst>
          <pc:docMk/>
          <pc:sldMk cId="1522230491" sldId="317"/>
        </pc:sldMkLst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1522230491" sldId="317"/>
            <ac:spMk id="2" creationId="{8FA4A555-4564-6010-81D0-5F4BE4DAF693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1522230491" sldId="317"/>
            <ac:spMk id="3" creationId="{BBE335F3-1AA7-E1E5-4A66-16709BDC0C47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1522230491" sldId="317"/>
            <ac:spMk id="4" creationId="{4276EC38-BD2D-31C2-472C-63B8D95D9ADD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1522230491" sldId="317"/>
            <ac:spMk id="6" creationId="{6A80924C-A5DE-F781-7938-C8110CEAA019}"/>
          </ac:spMkLst>
        </pc:spChg>
        <pc:spChg chg="add 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1522230491" sldId="317"/>
            <ac:spMk id="18" creationId="{134B3587-9E14-59E8-4D99-A26A1BC52C81}"/>
          </ac:spMkLst>
        </pc:spChg>
      </pc:sldChg>
      <pc:sldChg chg="new del">
        <pc:chgData name="Weisstanner David" userId="266fc2ed-3807-4c7d-8f60-d5f3ae3c0b34" providerId="ADAL" clId="{80B64FD0-C8DF-4C77-A6B7-6E88F1C3DF75}" dt="2025-10-02T19:58:30.109" v="1941" actId="680"/>
        <pc:sldMkLst>
          <pc:docMk/>
          <pc:sldMk cId="3628672296" sldId="317"/>
        </pc:sldMkLst>
      </pc:sldChg>
      <pc:sldChg chg="del">
        <pc:chgData name="Weisstanner David" userId="266fc2ed-3807-4c7d-8f60-d5f3ae3c0b34" providerId="ADAL" clId="{80B64FD0-C8DF-4C77-A6B7-6E88F1C3DF75}" dt="2025-09-29T07:33:54.798" v="16" actId="47"/>
        <pc:sldMkLst>
          <pc:docMk/>
          <pc:sldMk cId="3979188647" sldId="317"/>
        </pc:sldMkLst>
      </pc:sldChg>
      <pc:sldChg chg="del">
        <pc:chgData name="Weisstanner David" userId="266fc2ed-3807-4c7d-8f60-d5f3ae3c0b34" providerId="ADAL" clId="{80B64FD0-C8DF-4C77-A6B7-6E88F1C3DF75}" dt="2025-09-29T07:33:54.798" v="16" actId="47"/>
        <pc:sldMkLst>
          <pc:docMk/>
          <pc:sldMk cId="1220101325" sldId="318"/>
        </pc:sldMkLst>
      </pc:sldChg>
      <pc:sldChg chg="addSp delSp modSp new mod">
        <pc:chgData name="Weisstanner David" userId="266fc2ed-3807-4c7d-8f60-d5f3ae3c0b34" providerId="ADAL" clId="{80B64FD0-C8DF-4C77-A6B7-6E88F1C3DF75}" dt="2025-10-03T13:52:35.177" v="7236" actId="790"/>
        <pc:sldMkLst>
          <pc:docMk/>
          <pc:sldMk cId="3773928511" sldId="318"/>
        </pc:sldMkLst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3773928511" sldId="318"/>
            <ac:spMk id="2" creationId="{B936ECD7-E118-F8AD-ADAF-3584EB61F990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3773928511" sldId="318"/>
            <ac:spMk id="3" creationId="{1B7C9BDE-03E5-024E-8419-7A6EC9A62270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3773928511" sldId="318"/>
            <ac:spMk id="4" creationId="{A40B747F-7C7F-499F-9211-7EEAF416FEB2}"/>
          </ac:spMkLst>
        </pc:spChg>
        <pc:spChg chg="add 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3773928511" sldId="318"/>
            <ac:spMk id="5" creationId="{795220A1-8A5D-EAD1-024D-3EDECF4543B0}"/>
          </ac:spMkLst>
        </pc:spChg>
      </pc:sldChg>
      <pc:sldChg chg="addSp delSp modSp add mod modNotesTx">
        <pc:chgData name="Weisstanner David" userId="266fc2ed-3807-4c7d-8f60-d5f3ae3c0b34" providerId="ADAL" clId="{80B64FD0-C8DF-4C77-A6B7-6E88F1C3DF75}" dt="2025-10-06T06:49:35.464" v="7502" actId="20577"/>
        <pc:sldMkLst>
          <pc:docMk/>
          <pc:sldMk cId="852054794" sldId="319"/>
        </pc:sldMkLst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852054794" sldId="319"/>
            <ac:spMk id="2" creationId="{1DF267B5-3845-8D65-F71D-B38367DCFDF8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852054794" sldId="319"/>
            <ac:spMk id="3" creationId="{706F0F84-25E5-5F8A-3B1E-FBEC4911C301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852054794" sldId="319"/>
            <ac:spMk id="5" creationId="{D11A91F0-C3A1-43D5-A544-E0C6D348C225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852054794" sldId="319"/>
            <ac:spMk id="8" creationId="{DAD2F146-A91E-B674-A643-5E5F54E7BDC7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852054794" sldId="319"/>
            <ac:spMk id="9" creationId="{628BC936-C093-07A5-47A9-1C26FF380A32}"/>
          </ac:spMkLst>
        </pc:spChg>
        <pc:spChg chg="mod">
          <ac:chgData name="Weisstanner David" userId="266fc2ed-3807-4c7d-8f60-d5f3ae3c0b34" providerId="ADAL" clId="{80B64FD0-C8DF-4C77-A6B7-6E88F1C3DF75}" dt="2025-10-02T20:20:43.270" v="2534" actId="1036"/>
          <ac:spMkLst>
            <pc:docMk/>
            <pc:sldMk cId="852054794" sldId="319"/>
            <ac:spMk id="14" creationId="{B78D670F-4504-DF4C-4F24-58B76EF89756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852054794" sldId="319"/>
            <ac:spMk id="15" creationId="{E40163AA-B973-379A-5535-8174A0F79245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852054794" sldId="319"/>
            <ac:spMk id="16" creationId="{5B9A0495-8194-6595-2BE6-1E8A71DDF539}"/>
          </ac:spMkLst>
        </pc:spChg>
        <pc:spChg chg="add 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852054794" sldId="319"/>
            <ac:spMk id="19" creationId="{96B07262-6493-4B93-2CCE-34EE2506B172}"/>
          </ac:spMkLst>
        </pc:spChg>
        <pc:spChg chg="add 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852054794" sldId="319"/>
            <ac:spMk id="20" creationId="{2EB6AB9D-1696-6670-34D6-8FFF34C46691}"/>
          </ac:spMkLst>
        </pc:spChg>
        <pc:spChg chg="add 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852054794" sldId="319"/>
            <ac:spMk id="22" creationId="{C94DEFC7-BA5D-93E1-514B-8B083B205B26}"/>
          </ac:spMkLst>
        </pc:spChg>
        <pc:picChg chg="mod">
          <ac:chgData name="Weisstanner David" userId="266fc2ed-3807-4c7d-8f60-d5f3ae3c0b34" providerId="ADAL" clId="{80B64FD0-C8DF-4C77-A6B7-6E88F1C3DF75}" dt="2025-10-02T20:19:13.603" v="2508" actId="1076"/>
          <ac:picMkLst>
            <pc:docMk/>
            <pc:sldMk cId="852054794" sldId="319"/>
            <ac:picMk id="7" creationId="{372A9779-7053-7E0E-A7E1-29999EEB3C8A}"/>
          </ac:picMkLst>
        </pc:picChg>
        <pc:cxnChg chg="mod">
          <ac:chgData name="Weisstanner David" userId="266fc2ed-3807-4c7d-8f60-d5f3ae3c0b34" providerId="ADAL" clId="{80B64FD0-C8DF-4C77-A6B7-6E88F1C3DF75}" dt="2025-10-02T20:19:28.320" v="2510" actId="1076"/>
          <ac:cxnSpMkLst>
            <pc:docMk/>
            <pc:sldMk cId="852054794" sldId="319"/>
            <ac:cxnSpMk id="11" creationId="{A3248CA3-9E60-6D73-7EB9-269C878D2853}"/>
          </ac:cxnSpMkLst>
        </pc:cxnChg>
        <pc:cxnChg chg="add mod">
          <ac:chgData name="Weisstanner David" userId="266fc2ed-3807-4c7d-8f60-d5f3ae3c0b34" providerId="ADAL" clId="{80B64FD0-C8DF-4C77-A6B7-6E88F1C3DF75}" dt="2025-10-02T20:19:49.136" v="2519" actId="14100"/>
          <ac:cxnSpMkLst>
            <pc:docMk/>
            <pc:sldMk cId="852054794" sldId="319"/>
            <ac:cxnSpMk id="12" creationId="{ECAE627A-E0F5-EA6E-08EB-85795ADED1C5}"/>
          </ac:cxnSpMkLst>
        </pc:cxnChg>
        <pc:cxnChg chg="mod">
          <ac:chgData name="Weisstanner David" userId="266fc2ed-3807-4c7d-8f60-d5f3ae3c0b34" providerId="ADAL" clId="{80B64FD0-C8DF-4C77-A6B7-6E88F1C3DF75}" dt="2025-10-02T20:19:28.320" v="2510" actId="1076"/>
          <ac:cxnSpMkLst>
            <pc:docMk/>
            <pc:sldMk cId="852054794" sldId="319"/>
            <ac:cxnSpMk id="13" creationId="{BCD46C1C-16BF-2198-4704-4726FABAD208}"/>
          </ac:cxnSpMkLst>
        </pc:cxnChg>
        <pc:cxnChg chg="add mod">
          <ac:chgData name="Weisstanner David" userId="266fc2ed-3807-4c7d-8f60-d5f3ae3c0b34" providerId="ADAL" clId="{80B64FD0-C8DF-4C77-A6B7-6E88F1C3DF75}" dt="2025-10-02T20:20:22.200" v="2529" actId="14100"/>
          <ac:cxnSpMkLst>
            <pc:docMk/>
            <pc:sldMk cId="852054794" sldId="319"/>
            <ac:cxnSpMk id="21" creationId="{3B2DEB53-F672-7F44-5F19-32EA57BCA1FE}"/>
          </ac:cxnSpMkLst>
        </pc:cxnChg>
      </pc:sldChg>
      <pc:sldChg chg="del">
        <pc:chgData name="Weisstanner David" userId="266fc2ed-3807-4c7d-8f60-d5f3ae3c0b34" providerId="ADAL" clId="{80B64FD0-C8DF-4C77-A6B7-6E88F1C3DF75}" dt="2025-09-29T07:33:54.798" v="16" actId="47"/>
        <pc:sldMkLst>
          <pc:docMk/>
          <pc:sldMk cId="979486445" sldId="319"/>
        </pc:sldMkLst>
      </pc:sldChg>
      <pc:sldChg chg="del">
        <pc:chgData name="Weisstanner David" userId="266fc2ed-3807-4c7d-8f60-d5f3ae3c0b34" providerId="ADAL" clId="{80B64FD0-C8DF-4C77-A6B7-6E88F1C3DF75}" dt="2025-09-29T07:33:54.798" v="16" actId="47"/>
        <pc:sldMkLst>
          <pc:docMk/>
          <pc:sldMk cId="2463802401" sldId="320"/>
        </pc:sldMkLst>
      </pc:sldChg>
      <pc:sldChg chg="addSp delSp modSp new mod modNotesTx">
        <pc:chgData name="Weisstanner David" userId="266fc2ed-3807-4c7d-8f60-d5f3ae3c0b34" providerId="ADAL" clId="{80B64FD0-C8DF-4C77-A6B7-6E88F1C3DF75}" dt="2025-10-03T13:52:35.177" v="7236" actId="790"/>
        <pc:sldMkLst>
          <pc:docMk/>
          <pc:sldMk cId="3466284611" sldId="320"/>
        </pc:sldMkLst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3466284611" sldId="320"/>
            <ac:spMk id="2" creationId="{25C1E442-EAC1-0168-A357-FA031A1D9FD2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3466284611" sldId="320"/>
            <ac:spMk id="3" creationId="{10C9521D-B9C8-5D38-2017-E2A0071F0E20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3466284611" sldId="320"/>
            <ac:spMk id="4" creationId="{B2477F2D-8F7E-1DE6-145D-18BA18637B66}"/>
          </ac:spMkLst>
        </pc:spChg>
        <pc:spChg chg="add 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3466284611" sldId="320"/>
            <ac:spMk id="7" creationId="{22B98FEB-451B-71AB-CB4A-146E929E08F7}"/>
          </ac:spMkLst>
        </pc:spChg>
        <pc:picChg chg="add mod">
          <ac:chgData name="Weisstanner David" userId="266fc2ed-3807-4c7d-8f60-d5f3ae3c0b34" providerId="ADAL" clId="{80B64FD0-C8DF-4C77-A6B7-6E88F1C3DF75}" dt="2025-10-02T20:54:10.735" v="3102" actId="1076"/>
          <ac:picMkLst>
            <pc:docMk/>
            <pc:sldMk cId="3466284611" sldId="320"/>
            <ac:picMk id="9" creationId="{08EFD625-03E0-D871-149E-0BDDF1EE781C}"/>
          </ac:picMkLst>
        </pc:picChg>
      </pc:sldChg>
      <pc:sldChg chg="modSp new mod">
        <pc:chgData name="Weisstanner David" userId="266fc2ed-3807-4c7d-8f60-d5f3ae3c0b34" providerId="ADAL" clId="{80B64FD0-C8DF-4C77-A6B7-6E88F1C3DF75}" dt="2025-10-03T13:52:35.177" v="7236" actId="790"/>
        <pc:sldMkLst>
          <pc:docMk/>
          <pc:sldMk cId="534706454" sldId="321"/>
        </pc:sldMkLst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534706454" sldId="321"/>
            <ac:spMk id="2" creationId="{82961B63-9793-B14D-2454-54D28563B909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534706454" sldId="321"/>
            <ac:spMk id="3" creationId="{D15D1E8D-6D7C-702C-35E6-E462D39B475E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534706454" sldId="321"/>
            <ac:spMk id="4" creationId="{218BA1B9-1A55-40AE-D62F-4498FF7D026B}"/>
          </ac:spMkLst>
        </pc:spChg>
      </pc:sldChg>
      <pc:sldChg chg="del">
        <pc:chgData name="Weisstanner David" userId="266fc2ed-3807-4c7d-8f60-d5f3ae3c0b34" providerId="ADAL" clId="{80B64FD0-C8DF-4C77-A6B7-6E88F1C3DF75}" dt="2025-09-29T07:33:54.798" v="16" actId="47"/>
        <pc:sldMkLst>
          <pc:docMk/>
          <pc:sldMk cId="1497820951" sldId="321"/>
        </pc:sldMkLst>
      </pc:sldChg>
      <pc:sldChg chg="del">
        <pc:chgData name="Weisstanner David" userId="266fc2ed-3807-4c7d-8f60-d5f3ae3c0b34" providerId="ADAL" clId="{80B64FD0-C8DF-4C77-A6B7-6E88F1C3DF75}" dt="2025-09-29T07:33:54.798" v="16" actId="47"/>
        <pc:sldMkLst>
          <pc:docMk/>
          <pc:sldMk cId="856258649" sldId="322"/>
        </pc:sldMkLst>
      </pc:sldChg>
      <pc:sldChg chg="addSp delSp modSp new mod">
        <pc:chgData name="Weisstanner David" userId="266fc2ed-3807-4c7d-8f60-d5f3ae3c0b34" providerId="ADAL" clId="{80B64FD0-C8DF-4C77-A6B7-6E88F1C3DF75}" dt="2025-10-03T13:52:35.177" v="7236" actId="790"/>
        <pc:sldMkLst>
          <pc:docMk/>
          <pc:sldMk cId="1695360192" sldId="322"/>
        </pc:sldMkLst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1695360192" sldId="322"/>
            <ac:spMk id="3" creationId="{9E23A9FF-36DF-A023-11D7-4C3964B85D76}"/>
          </ac:spMkLst>
        </pc:spChg>
        <pc:picChg chg="add mod">
          <ac:chgData name="Weisstanner David" userId="266fc2ed-3807-4c7d-8f60-d5f3ae3c0b34" providerId="ADAL" clId="{80B64FD0-C8DF-4C77-A6B7-6E88F1C3DF75}" dt="2025-10-03T05:47:16.858" v="4771" actId="1076"/>
          <ac:picMkLst>
            <pc:docMk/>
            <pc:sldMk cId="1695360192" sldId="322"/>
            <ac:picMk id="9" creationId="{E259A866-F908-4D36-9797-6ED628A4E251}"/>
          </ac:picMkLst>
        </pc:picChg>
      </pc:sldChg>
      <pc:sldChg chg="del">
        <pc:chgData name="Weisstanner David" userId="266fc2ed-3807-4c7d-8f60-d5f3ae3c0b34" providerId="ADAL" clId="{80B64FD0-C8DF-4C77-A6B7-6E88F1C3DF75}" dt="2025-09-29T07:33:54.798" v="16" actId="47"/>
        <pc:sldMkLst>
          <pc:docMk/>
          <pc:sldMk cId="187001486" sldId="323"/>
        </pc:sldMkLst>
      </pc:sldChg>
      <pc:sldChg chg="addSp delSp modSp new mod">
        <pc:chgData name="Weisstanner David" userId="266fc2ed-3807-4c7d-8f60-d5f3ae3c0b34" providerId="ADAL" clId="{80B64FD0-C8DF-4C77-A6B7-6E88F1C3DF75}" dt="2025-10-03T13:52:35.177" v="7236" actId="790"/>
        <pc:sldMkLst>
          <pc:docMk/>
          <pc:sldMk cId="1619300305" sldId="323"/>
        </pc:sldMkLst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1619300305" sldId="323"/>
            <ac:spMk id="3" creationId="{0AEAFA9E-20A5-8D5A-A35B-237F8BEEF680}"/>
          </ac:spMkLst>
        </pc:spChg>
        <pc:picChg chg="add mod">
          <ac:chgData name="Weisstanner David" userId="266fc2ed-3807-4c7d-8f60-d5f3ae3c0b34" providerId="ADAL" clId="{80B64FD0-C8DF-4C77-A6B7-6E88F1C3DF75}" dt="2025-10-03T05:50:22.156" v="4780" actId="1076"/>
          <ac:picMkLst>
            <pc:docMk/>
            <pc:sldMk cId="1619300305" sldId="323"/>
            <ac:picMk id="6" creationId="{18397EFD-8779-226A-57CB-1DC7FAD5304B}"/>
          </ac:picMkLst>
        </pc:picChg>
      </pc:sldChg>
      <pc:sldChg chg="addSp delSp modSp new del mod">
        <pc:chgData name="Weisstanner David" userId="266fc2ed-3807-4c7d-8f60-d5f3ae3c0b34" providerId="ADAL" clId="{80B64FD0-C8DF-4C77-A6B7-6E88F1C3DF75}" dt="2025-10-03T05:47:53.674" v="4773" actId="47"/>
        <pc:sldMkLst>
          <pc:docMk/>
          <pc:sldMk cId="2910389060" sldId="323"/>
        </pc:sldMkLst>
      </pc:sldChg>
      <pc:sldChg chg="addSp delSp modSp new mod">
        <pc:chgData name="Weisstanner David" userId="266fc2ed-3807-4c7d-8f60-d5f3ae3c0b34" providerId="ADAL" clId="{80B64FD0-C8DF-4C77-A6B7-6E88F1C3DF75}" dt="2025-10-03T13:52:35.177" v="7236" actId="790"/>
        <pc:sldMkLst>
          <pc:docMk/>
          <pc:sldMk cId="2467457844" sldId="324"/>
        </pc:sldMkLst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2467457844" sldId="324"/>
            <ac:spMk id="3" creationId="{85116919-2779-00C7-E468-7078E72C089C}"/>
          </ac:spMkLst>
        </pc:spChg>
        <pc:picChg chg="add mod">
          <ac:chgData name="Weisstanner David" userId="266fc2ed-3807-4c7d-8f60-d5f3ae3c0b34" providerId="ADAL" clId="{80B64FD0-C8DF-4C77-A6B7-6E88F1C3DF75}" dt="2025-10-03T06:08:59.223" v="4787" actId="1076"/>
          <ac:picMkLst>
            <pc:docMk/>
            <pc:sldMk cId="2467457844" sldId="324"/>
            <ac:picMk id="6" creationId="{130CF4D7-ECB7-E27D-77A0-32B1293A35CF}"/>
          </ac:picMkLst>
        </pc:picChg>
      </pc:sldChg>
      <pc:sldChg chg="addSp delSp modSp new mod ord">
        <pc:chgData name="Weisstanner David" userId="266fc2ed-3807-4c7d-8f60-d5f3ae3c0b34" providerId="ADAL" clId="{80B64FD0-C8DF-4C77-A6B7-6E88F1C3DF75}" dt="2025-10-03T13:52:35.177" v="7236" actId="790"/>
        <pc:sldMkLst>
          <pc:docMk/>
          <pc:sldMk cId="3173787294" sldId="325"/>
        </pc:sldMkLst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3173787294" sldId="325"/>
            <ac:spMk id="2" creationId="{82450732-7D08-36C7-4663-EE56F82BCAAA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3173787294" sldId="325"/>
            <ac:spMk id="3" creationId="{8A1B0811-0CF7-6E44-5497-96636AD13F29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3173787294" sldId="325"/>
            <ac:spMk id="9" creationId="{2A5923AE-0AE9-D051-662C-0CD153DC018F}"/>
          </ac:spMkLst>
        </pc:spChg>
        <pc:spChg chg="add 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3173787294" sldId="325"/>
            <ac:spMk id="15" creationId="{F3C894AD-0BEC-7C9E-D775-F5AD1EDDFC72}"/>
          </ac:spMkLst>
        </pc:spChg>
        <pc:picChg chg="add mod">
          <ac:chgData name="Weisstanner David" userId="266fc2ed-3807-4c7d-8f60-d5f3ae3c0b34" providerId="ADAL" clId="{80B64FD0-C8DF-4C77-A6B7-6E88F1C3DF75}" dt="2025-10-03T11:45:20.024" v="4977" actId="1076"/>
          <ac:picMkLst>
            <pc:docMk/>
            <pc:sldMk cId="3173787294" sldId="325"/>
            <ac:picMk id="8" creationId="{2F198F1B-EB36-856D-D490-887C5009182E}"/>
          </ac:picMkLst>
        </pc:picChg>
        <pc:picChg chg="add mod">
          <ac:chgData name="Weisstanner David" userId="266fc2ed-3807-4c7d-8f60-d5f3ae3c0b34" providerId="ADAL" clId="{80B64FD0-C8DF-4C77-A6B7-6E88F1C3DF75}" dt="2025-10-03T11:48:36.969" v="5018" actId="1035"/>
          <ac:picMkLst>
            <pc:docMk/>
            <pc:sldMk cId="3173787294" sldId="325"/>
            <ac:picMk id="11" creationId="{1E933167-F80F-13EB-0BEC-CDD2EBF24E5F}"/>
          </ac:picMkLst>
        </pc:picChg>
      </pc:sldChg>
      <pc:sldChg chg="modSp new mod">
        <pc:chgData name="Weisstanner David" userId="266fc2ed-3807-4c7d-8f60-d5f3ae3c0b34" providerId="ADAL" clId="{80B64FD0-C8DF-4C77-A6B7-6E88F1C3DF75}" dt="2025-10-03T13:52:35.177" v="7236" actId="790"/>
        <pc:sldMkLst>
          <pc:docMk/>
          <pc:sldMk cId="1794869549" sldId="326"/>
        </pc:sldMkLst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1794869549" sldId="326"/>
            <ac:spMk id="2" creationId="{690CEEFC-7CB7-429B-1EA0-EC6EBE494F3A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1794869549" sldId="326"/>
            <ac:spMk id="3" creationId="{74B01863-09E1-4A84-F0AC-006B82C06DEF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1794869549" sldId="326"/>
            <ac:spMk id="4" creationId="{033512A8-02DB-5058-D159-F887C232EBEA}"/>
          </ac:spMkLst>
        </pc:spChg>
      </pc:sldChg>
      <pc:sldChg chg="modSp new mod">
        <pc:chgData name="Weisstanner David" userId="266fc2ed-3807-4c7d-8f60-d5f3ae3c0b34" providerId="ADAL" clId="{80B64FD0-C8DF-4C77-A6B7-6E88F1C3DF75}" dt="2025-10-03T13:52:35.177" v="7236" actId="790"/>
        <pc:sldMkLst>
          <pc:docMk/>
          <pc:sldMk cId="2181350821" sldId="327"/>
        </pc:sldMkLst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2181350821" sldId="327"/>
            <ac:spMk id="2" creationId="{B723112B-3B5E-C348-750E-C8486105DF8F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2181350821" sldId="327"/>
            <ac:spMk id="3" creationId="{33AED05E-DECF-193F-18FD-44544BF0F5E8}"/>
          </ac:spMkLst>
        </pc:spChg>
        <pc:spChg chg="mod">
          <ac:chgData name="Weisstanner David" userId="266fc2ed-3807-4c7d-8f60-d5f3ae3c0b34" providerId="ADAL" clId="{80B64FD0-C8DF-4C77-A6B7-6E88F1C3DF75}" dt="2025-10-03T13:52:35.177" v="7236" actId="790"/>
          <ac:spMkLst>
            <pc:docMk/>
            <pc:sldMk cId="2181350821" sldId="327"/>
            <ac:spMk id="4" creationId="{EAF0A176-CD6B-068B-17C7-689BE6A64FAF}"/>
          </ac:spMkLst>
        </pc:spChg>
      </pc:sldChg>
    </pc:docChg>
  </pc:docChgLst>
  <pc:docChgLst>
    <pc:chgData name="Weisstanner David" userId="266fc2ed-3807-4c7d-8f60-d5f3ae3c0b34" providerId="ADAL" clId="{A1662305-5F7C-427C-81C5-F2B50FC2DEEF}"/>
    <pc:docChg chg="modSld">
      <pc:chgData name="Weisstanner David" userId="266fc2ed-3807-4c7d-8f60-d5f3ae3c0b34" providerId="ADAL" clId="{A1662305-5F7C-427C-81C5-F2B50FC2DEEF}" dt="2025-11-01T20:37:03.254" v="1" actId="1036"/>
      <pc:docMkLst>
        <pc:docMk/>
      </pc:docMkLst>
      <pc:sldChg chg="modSp mod">
        <pc:chgData name="Weisstanner David" userId="266fc2ed-3807-4c7d-8f60-d5f3ae3c0b34" providerId="ADAL" clId="{A1662305-5F7C-427C-81C5-F2B50FC2DEEF}" dt="2025-11-01T20:37:03.254" v="1" actId="1036"/>
        <pc:sldMkLst>
          <pc:docMk/>
          <pc:sldMk cId="1619300305" sldId="323"/>
        </pc:sldMkLst>
        <pc:picChg chg="mod">
          <ac:chgData name="Weisstanner David" userId="266fc2ed-3807-4c7d-8f60-d5f3ae3c0b34" providerId="ADAL" clId="{A1662305-5F7C-427C-81C5-F2B50FC2DEEF}" dt="2025-11-01T20:37:03.254" v="1" actId="1036"/>
          <ac:picMkLst>
            <pc:docMk/>
            <pc:sldMk cId="1619300305" sldId="323"/>
            <ac:picMk id="6" creationId="{18397EFD-8779-226A-57CB-1DC7FAD5304B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0AD1D6-E4A9-4FC7-A9D2-A0B620C57B7D}" type="doc">
      <dgm:prSet loTypeId="urn:microsoft.com/office/officeart/2005/8/layout/list1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de-CH"/>
        </a:p>
      </dgm:t>
    </dgm:pt>
    <dgm:pt modelId="{D7CA12A9-C9EF-4B26-83B7-81C37AD02594}">
      <dgm:prSet phldrT="[Text]" custT="1"/>
      <dgm:spPr/>
      <dgm:t>
        <a:bodyPr/>
        <a:lstStyle/>
        <a:p>
          <a:r>
            <a:rPr lang="en-GB" sz="1800" noProof="0" dirty="0"/>
            <a:t>Behavioural explanations</a:t>
          </a:r>
        </a:p>
      </dgm:t>
    </dgm:pt>
    <dgm:pt modelId="{2A9DE87B-91FF-48D9-BA4C-FC2B32C2781E}" type="parTrans" cxnId="{D9292EBD-5554-4796-BB92-1C3079CC029C}">
      <dgm:prSet/>
      <dgm:spPr/>
      <dgm:t>
        <a:bodyPr/>
        <a:lstStyle/>
        <a:p>
          <a:endParaRPr lang="de-CH" sz="1600"/>
        </a:p>
      </dgm:t>
    </dgm:pt>
    <dgm:pt modelId="{88E43269-C30D-4EA4-8507-4565E1327D84}" type="sibTrans" cxnId="{D9292EBD-5554-4796-BB92-1C3079CC029C}">
      <dgm:prSet/>
      <dgm:spPr/>
      <dgm:t>
        <a:bodyPr/>
        <a:lstStyle/>
        <a:p>
          <a:endParaRPr lang="de-CH" sz="1600"/>
        </a:p>
      </dgm:t>
    </dgm:pt>
    <dgm:pt modelId="{4BBC8AD4-7C5D-4CA9-96B9-D08C7D0E99FF}">
      <dgm:prSet phldrT="[Text]" custT="1"/>
      <dgm:spPr/>
      <dgm:t>
        <a:bodyPr/>
        <a:lstStyle/>
        <a:p>
          <a:r>
            <a:rPr lang="en-GB" sz="1800" noProof="0" dirty="0"/>
            <a:t>Material explanations</a:t>
          </a:r>
        </a:p>
      </dgm:t>
    </dgm:pt>
    <dgm:pt modelId="{4E1A937F-B098-4CC4-925F-6B30F35553FC}" type="parTrans" cxnId="{0A5E1D38-7669-456E-A865-2B941C829912}">
      <dgm:prSet/>
      <dgm:spPr/>
      <dgm:t>
        <a:bodyPr/>
        <a:lstStyle/>
        <a:p>
          <a:endParaRPr lang="de-CH" sz="1600"/>
        </a:p>
      </dgm:t>
    </dgm:pt>
    <dgm:pt modelId="{10A43B93-D05D-4CB2-BE02-331AEB72A753}" type="sibTrans" cxnId="{0A5E1D38-7669-456E-A865-2B941C829912}">
      <dgm:prSet/>
      <dgm:spPr/>
      <dgm:t>
        <a:bodyPr/>
        <a:lstStyle/>
        <a:p>
          <a:endParaRPr lang="de-CH" sz="1600"/>
        </a:p>
      </dgm:t>
    </dgm:pt>
    <dgm:pt modelId="{3FFB52EF-49CB-436E-9E54-22871308EB75}">
      <dgm:prSet phldrT="[Text]" custT="1"/>
      <dgm:spPr/>
      <dgm:t>
        <a:bodyPr/>
        <a:lstStyle/>
        <a:p>
          <a:r>
            <a:rPr lang="en-GB" sz="1800" noProof="0" dirty="0"/>
            <a:t>Psychosocial explanations</a:t>
          </a:r>
        </a:p>
      </dgm:t>
    </dgm:pt>
    <dgm:pt modelId="{4A25E853-5A07-4705-B85F-3723423C6DBF}" type="parTrans" cxnId="{BEEC25AF-F1CF-45DF-A836-6A05431907B3}">
      <dgm:prSet/>
      <dgm:spPr/>
      <dgm:t>
        <a:bodyPr/>
        <a:lstStyle/>
        <a:p>
          <a:endParaRPr lang="de-CH" sz="1600"/>
        </a:p>
      </dgm:t>
    </dgm:pt>
    <dgm:pt modelId="{AF2149FF-6CE3-48D8-9D2E-13BE59113FF0}" type="sibTrans" cxnId="{BEEC25AF-F1CF-45DF-A836-6A05431907B3}">
      <dgm:prSet/>
      <dgm:spPr/>
      <dgm:t>
        <a:bodyPr/>
        <a:lstStyle/>
        <a:p>
          <a:endParaRPr lang="de-CH" sz="1600"/>
        </a:p>
      </dgm:t>
    </dgm:pt>
    <dgm:pt modelId="{1BE9AE89-041F-4BF7-B894-F30A812AB4AA}">
      <dgm:prSet phldrT="[Text]" custT="1"/>
      <dgm:spPr/>
      <dgm:t>
        <a:bodyPr/>
        <a:lstStyle/>
        <a:p>
          <a:r>
            <a:rPr lang="en-GB" sz="1800" noProof="0" dirty="0"/>
            <a:t>Unequal health risks (smoking, diet, exercise, alcohol)</a:t>
          </a:r>
        </a:p>
      </dgm:t>
    </dgm:pt>
    <dgm:pt modelId="{C3C84050-69D9-407D-98EE-532773816147}" type="parTrans" cxnId="{60B7C1E5-B294-4621-A56A-0886B896790E}">
      <dgm:prSet/>
      <dgm:spPr/>
      <dgm:t>
        <a:bodyPr/>
        <a:lstStyle/>
        <a:p>
          <a:endParaRPr lang="de-CH" sz="1600"/>
        </a:p>
      </dgm:t>
    </dgm:pt>
    <dgm:pt modelId="{ACC156C3-A106-427C-9E33-928DE571047A}" type="sibTrans" cxnId="{60B7C1E5-B294-4621-A56A-0886B896790E}">
      <dgm:prSet/>
      <dgm:spPr/>
      <dgm:t>
        <a:bodyPr/>
        <a:lstStyle/>
        <a:p>
          <a:endParaRPr lang="de-CH" sz="1600"/>
        </a:p>
      </dgm:t>
    </dgm:pt>
    <dgm:pt modelId="{712B2759-E328-44CF-954F-F987B6C33E0F}">
      <dgm:prSet phldrT="[Text]" custT="1"/>
      <dgm:spPr/>
      <dgm:t>
        <a:bodyPr/>
        <a:lstStyle/>
        <a:p>
          <a:r>
            <a:rPr lang="en-GB" sz="1800" noProof="0" dirty="0"/>
            <a:t>Unequal living/working conditions and resources</a:t>
          </a:r>
        </a:p>
      </dgm:t>
    </dgm:pt>
    <dgm:pt modelId="{4A7DE624-5C55-4B94-A361-80E340F0249A}" type="parTrans" cxnId="{610056DF-CA3C-40D3-8CD4-E9CEADC12D7C}">
      <dgm:prSet/>
      <dgm:spPr/>
      <dgm:t>
        <a:bodyPr/>
        <a:lstStyle/>
        <a:p>
          <a:endParaRPr lang="de-CH" sz="1600"/>
        </a:p>
      </dgm:t>
    </dgm:pt>
    <dgm:pt modelId="{6EA18FC4-9FF7-49D6-B5F9-CC9B07E7C47B}" type="sibTrans" cxnId="{610056DF-CA3C-40D3-8CD4-E9CEADC12D7C}">
      <dgm:prSet/>
      <dgm:spPr/>
      <dgm:t>
        <a:bodyPr/>
        <a:lstStyle/>
        <a:p>
          <a:endParaRPr lang="de-CH" sz="1600"/>
        </a:p>
      </dgm:t>
    </dgm:pt>
    <dgm:pt modelId="{3F08EE14-2ACF-403F-B51A-7AD8BFE24C76}">
      <dgm:prSet phldrT="[Text]" custT="1"/>
      <dgm:spPr/>
      <dgm:t>
        <a:bodyPr/>
        <a:lstStyle/>
        <a:p>
          <a:r>
            <a:rPr lang="en-GB" sz="1800" noProof="0" dirty="0"/>
            <a:t>Unequal stress, job strain, social support, control</a:t>
          </a:r>
        </a:p>
      </dgm:t>
    </dgm:pt>
    <dgm:pt modelId="{E0EC1630-3215-414A-8B3E-CF964C23BE20}" type="parTrans" cxnId="{2A832A36-BF45-4BB5-A98F-34ECF9464BB0}">
      <dgm:prSet/>
      <dgm:spPr/>
      <dgm:t>
        <a:bodyPr/>
        <a:lstStyle/>
        <a:p>
          <a:endParaRPr lang="de-CH" sz="1600"/>
        </a:p>
      </dgm:t>
    </dgm:pt>
    <dgm:pt modelId="{9444CFCE-DC4E-4068-B75B-806416787396}" type="sibTrans" cxnId="{2A832A36-BF45-4BB5-A98F-34ECF9464BB0}">
      <dgm:prSet/>
      <dgm:spPr/>
      <dgm:t>
        <a:bodyPr/>
        <a:lstStyle/>
        <a:p>
          <a:endParaRPr lang="de-CH" sz="1600"/>
        </a:p>
      </dgm:t>
    </dgm:pt>
    <dgm:pt modelId="{70F9CE91-1156-4332-89BA-0627A9E11537}" type="pres">
      <dgm:prSet presAssocID="{730AD1D6-E4A9-4FC7-A9D2-A0B620C57B7D}" presName="linear" presStyleCnt="0">
        <dgm:presLayoutVars>
          <dgm:dir/>
          <dgm:animLvl val="lvl"/>
          <dgm:resizeHandles val="exact"/>
        </dgm:presLayoutVars>
      </dgm:prSet>
      <dgm:spPr/>
    </dgm:pt>
    <dgm:pt modelId="{20A64AF6-C98C-4580-BD02-AC87136D80D3}" type="pres">
      <dgm:prSet presAssocID="{D7CA12A9-C9EF-4B26-83B7-81C37AD02594}" presName="parentLin" presStyleCnt="0"/>
      <dgm:spPr/>
    </dgm:pt>
    <dgm:pt modelId="{DB6551C2-72EE-4A9F-8546-42CFA822D9A0}" type="pres">
      <dgm:prSet presAssocID="{D7CA12A9-C9EF-4B26-83B7-81C37AD02594}" presName="parentLeftMargin" presStyleLbl="node1" presStyleIdx="0" presStyleCnt="3"/>
      <dgm:spPr/>
    </dgm:pt>
    <dgm:pt modelId="{D68F4B28-E9AF-4B93-9CBE-817350F7D0CC}" type="pres">
      <dgm:prSet presAssocID="{D7CA12A9-C9EF-4B26-83B7-81C37AD0259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1FDE127-9EA3-45DA-A20E-9726AADF533F}" type="pres">
      <dgm:prSet presAssocID="{D7CA12A9-C9EF-4B26-83B7-81C37AD02594}" presName="negativeSpace" presStyleCnt="0"/>
      <dgm:spPr/>
    </dgm:pt>
    <dgm:pt modelId="{E3395DC8-9D24-4A30-AA55-28C50A38145E}" type="pres">
      <dgm:prSet presAssocID="{D7CA12A9-C9EF-4B26-83B7-81C37AD02594}" presName="childText" presStyleLbl="conFgAcc1" presStyleIdx="0" presStyleCnt="3">
        <dgm:presLayoutVars>
          <dgm:bulletEnabled val="1"/>
        </dgm:presLayoutVars>
      </dgm:prSet>
      <dgm:spPr/>
    </dgm:pt>
    <dgm:pt modelId="{DE6F49D7-AE90-460C-B2FF-74E113AB5BAF}" type="pres">
      <dgm:prSet presAssocID="{88E43269-C30D-4EA4-8507-4565E1327D84}" presName="spaceBetweenRectangles" presStyleCnt="0"/>
      <dgm:spPr/>
    </dgm:pt>
    <dgm:pt modelId="{AA61E8C9-69C5-4F49-B220-B6E3AEA04979}" type="pres">
      <dgm:prSet presAssocID="{4BBC8AD4-7C5D-4CA9-96B9-D08C7D0E99FF}" presName="parentLin" presStyleCnt="0"/>
      <dgm:spPr/>
    </dgm:pt>
    <dgm:pt modelId="{082CF92E-6F38-4070-AA2D-3DBDE60CBB52}" type="pres">
      <dgm:prSet presAssocID="{4BBC8AD4-7C5D-4CA9-96B9-D08C7D0E99FF}" presName="parentLeftMargin" presStyleLbl="node1" presStyleIdx="0" presStyleCnt="3"/>
      <dgm:spPr/>
    </dgm:pt>
    <dgm:pt modelId="{A096F0EC-4A41-4952-9228-2F61A238C1BB}" type="pres">
      <dgm:prSet presAssocID="{4BBC8AD4-7C5D-4CA9-96B9-D08C7D0E99F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5201F62-DDF3-4594-A74D-A5E157F7E926}" type="pres">
      <dgm:prSet presAssocID="{4BBC8AD4-7C5D-4CA9-96B9-D08C7D0E99FF}" presName="negativeSpace" presStyleCnt="0"/>
      <dgm:spPr/>
    </dgm:pt>
    <dgm:pt modelId="{90D5E7FD-61B5-424A-BB46-EC6EF62A97EE}" type="pres">
      <dgm:prSet presAssocID="{4BBC8AD4-7C5D-4CA9-96B9-D08C7D0E99FF}" presName="childText" presStyleLbl="conFgAcc1" presStyleIdx="1" presStyleCnt="3">
        <dgm:presLayoutVars>
          <dgm:bulletEnabled val="1"/>
        </dgm:presLayoutVars>
      </dgm:prSet>
      <dgm:spPr/>
    </dgm:pt>
    <dgm:pt modelId="{62207103-07AC-4FFF-9BD5-88DC2E279A13}" type="pres">
      <dgm:prSet presAssocID="{10A43B93-D05D-4CB2-BE02-331AEB72A753}" presName="spaceBetweenRectangles" presStyleCnt="0"/>
      <dgm:spPr/>
    </dgm:pt>
    <dgm:pt modelId="{D56482D9-037C-45D4-820F-20ED27739487}" type="pres">
      <dgm:prSet presAssocID="{3FFB52EF-49CB-436E-9E54-22871308EB75}" presName="parentLin" presStyleCnt="0"/>
      <dgm:spPr/>
    </dgm:pt>
    <dgm:pt modelId="{44B5C9ED-392F-4005-9412-B94EE68527E0}" type="pres">
      <dgm:prSet presAssocID="{3FFB52EF-49CB-436E-9E54-22871308EB75}" presName="parentLeftMargin" presStyleLbl="node1" presStyleIdx="1" presStyleCnt="3"/>
      <dgm:spPr/>
    </dgm:pt>
    <dgm:pt modelId="{8529CBDD-2FB1-4A29-8DBA-5A3B7657612B}" type="pres">
      <dgm:prSet presAssocID="{3FFB52EF-49CB-436E-9E54-22871308EB7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9FA6525-E764-40EC-8460-CC1D35EFB5CA}" type="pres">
      <dgm:prSet presAssocID="{3FFB52EF-49CB-436E-9E54-22871308EB75}" presName="negativeSpace" presStyleCnt="0"/>
      <dgm:spPr/>
    </dgm:pt>
    <dgm:pt modelId="{D5DF6CEF-43A3-4308-9FB1-61C64A662C9C}" type="pres">
      <dgm:prSet presAssocID="{3FFB52EF-49CB-436E-9E54-22871308EB7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94A130A-BB3E-4508-A47B-4D93666FA515}" type="presOf" srcId="{1BE9AE89-041F-4BF7-B894-F30A812AB4AA}" destId="{E3395DC8-9D24-4A30-AA55-28C50A38145E}" srcOrd="0" destOrd="0" presId="urn:microsoft.com/office/officeart/2005/8/layout/list1"/>
    <dgm:cxn modelId="{D4344922-3831-4269-8E81-D4C951FC1434}" type="presOf" srcId="{3FFB52EF-49CB-436E-9E54-22871308EB75}" destId="{8529CBDD-2FB1-4A29-8DBA-5A3B7657612B}" srcOrd="1" destOrd="0" presId="urn:microsoft.com/office/officeart/2005/8/layout/list1"/>
    <dgm:cxn modelId="{2A832A36-BF45-4BB5-A98F-34ECF9464BB0}" srcId="{3FFB52EF-49CB-436E-9E54-22871308EB75}" destId="{3F08EE14-2ACF-403F-B51A-7AD8BFE24C76}" srcOrd="0" destOrd="0" parTransId="{E0EC1630-3215-414A-8B3E-CF964C23BE20}" sibTransId="{9444CFCE-DC4E-4068-B75B-806416787396}"/>
    <dgm:cxn modelId="{0A5E1D38-7669-456E-A865-2B941C829912}" srcId="{730AD1D6-E4A9-4FC7-A9D2-A0B620C57B7D}" destId="{4BBC8AD4-7C5D-4CA9-96B9-D08C7D0E99FF}" srcOrd="1" destOrd="0" parTransId="{4E1A937F-B098-4CC4-925F-6B30F35553FC}" sibTransId="{10A43B93-D05D-4CB2-BE02-331AEB72A753}"/>
    <dgm:cxn modelId="{51EF3340-EFB0-4ECB-9254-329DB4E17D29}" type="presOf" srcId="{730AD1D6-E4A9-4FC7-A9D2-A0B620C57B7D}" destId="{70F9CE91-1156-4332-89BA-0627A9E11537}" srcOrd="0" destOrd="0" presId="urn:microsoft.com/office/officeart/2005/8/layout/list1"/>
    <dgm:cxn modelId="{CCA7106A-68F9-4B75-9AAF-AA2CFBC9B53A}" type="presOf" srcId="{D7CA12A9-C9EF-4B26-83B7-81C37AD02594}" destId="{DB6551C2-72EE-4A9F-8546-42CFA822D9A0}" srcOrd="0" destOrd="0" presId="urn:microsoft.com/office/officeart/2005/8/layout/list1"/>
    <dgm:cxn modelId="{D1838E6B-A558-4E7D-AD7F-1C2D61498DEA}" type="presOf" srcId="{4BBC8AD4-7C5D-4CA9-96B9-D08C7D0E99FF}" destId="{A096F0EC-4A41-4952-9228-2F61A238C1BB}" srcOrd="1" destOrd="0" presId="urn:microsoft.com/office/officeart/2005/8/layout/list1"/>
    <dgm:cxn modelId="{68A2DE80-BF45-4B60-9B69-C46E51E484A8}" type="presOf" srcId="{712B2759-E328-44CF-954F-F987B6C33E0F}" destId="{90D5E7FD-61B5-424A-BB46-EC6EF62A97EE}" srcOrd="0" destOrd="0" presId="urn:microsoft.com/office/officeart/2005/8/layout/list1"/>
    <dgm:cxn modelId="{79961181-B825-41C7-9A8B-A8A025EFD6A4}" type="presOf" srcId="{3FFB52EF-49CB-436E-9E54-22871308EB75}" destId="{44B5C9ED-392F-4005-9412-B94EE68527E0}" srcOrd="0" destOrd="0" presId="urn:microsoft.com/office/officeart/2005/8/layout/list1"/>
    <dgm:cxn modelId="{1AC52190-157E-4E26-8069-7EDAE19C5149}" type="presOf" srcId="{3F08EE14-2ACF-403F-B51A-7AD8BFE24C76}" destId="{D5DF6CEF-43A3-4308-9FB1-61C64A662C9C}" srcOrd="0" destOrd="0" presId="urn:microsoft.com/office/officeart/2005/8/layout/list1"/>
    <dgm:cxn modelId="{1EC4BF9E-B9F0-4147-98B1-1AC0C8E717A5}" type="presOf" srcId="{4BBC8AD4-7C5D-4CA9-96B9-D08C7D0E99FF}" destId="{082CF92E-6F38-4070-AA2D-3DBDE60CBB52}" srcOrd="0" destOrd="0" presId="urn:microsoft.com/office/officeart/2005/8/layout/list1"/>
    <dgm:cxn modelId="{BEEC25AF-F1CF-45DF-A836-6A05431907B3}" srcId="{730AD1D6-E4A9-4FC7-A9D2-A0B620C57B7D}" destId="{3FFB52EF-49CB-436E-9E54-22871308EB75}" srcOrd="2" destOrd="0" parTransId="{4A25E853-5A07-4705-B85F-3723423C6DBF}" sibTransId="{AF2149FF-6CE3-48D8-9D2E-13BE59113FF0}"/>
    <dgm:cxn modelId="{D9292EBD-5554-4796-BB92-1C3079CC029C}" srcId="{730AD1D6-E4A9-4FC7-A9D2-A0B620C57B7D}" destId="{D7CA12A9-C9EF-4B26-83B7-81C37AD02594}" srcOrd="0" destOrd="0" parTransId="{2A9DE87B-91FF-48D9-BA4C-FC2B32C2781E}" sibTransId="{88E43269-C30D-4EA4-8507-4565E1327D84}"/>
    <dgm:cxn modelId="{01632FCF-AA2A-455A-8D68-CC2CFBADD1F7}" type="presOf" srcId="{D7CA12A9-C9EF-4B26-83B7-81C37AD02594}" destId="{D68F4B28-E9AF-4B93-9CBE-817350F7D0CC}" srcOrd="1" destOrd="0" presId="urn:microsoft.com/office/officeart/2005/8/layout/list1"/>
    <dgm:cxn modelId="{610056DF-CA3C-40D3-8CD4-E9CEADC12D7C}" srcId="{4BBC8AD4-7C5D-4CA9-96B9-D08C7D0E99FF}" destId="{712B2759-E328-44CF-954F-F987B6C33E0F}" srcOrd="0" destOrd="0" parTransId="{4A7DE624-5C55-4B94-A361-80E340F0249A}" sibTransId="{6EA18FC4-9FF7-49D6-B5F9-CC9B07E7C47B}"/>
    <dgm:cxn modelId="{60B7C1E5-B294-4621-A56A-0886B896790E}" srcId="{D7CA12A9-C9EF-4B26-83B7-81C37AD02594}" destId="{1BE9AE89-041F-4BF7-B894-F30A812AB4AA}" srcOrd="0" destOrd="0" parTransId="{C3C84050-69D9-407D-98EE-532773816147}" sibTransId="{ACC156C3-A106-427C-9E33-928DE571047A}"/>
    <dgm:cxn modelId="{64672EBD-E79C-4D93-8866-424C1C4A360A}" type="presParOf" srcId="{70F9CE91-1156-4332-89BA-0627A9E11537}" destId="{20A64AF6-C98C-4580-BD02-AC87136D80D3}" srcOrd="0" destOrd="0" presId="urn:microsoft.com/office/officeart/2005/8/layout/list1"/>
    <dgm:cxn modelId="{F8697568-C9B6-4346-A04B-57DD8696C592}" type="presParOf" srcId="{20A64AF6-C98C-4580-BD02-AC87136D80D3}" destId="{DB6551C2-72EE-4A9F-8546-42CFA822D9A0}" srcOrd="0" destOrd="0" presId="urn:microsoft.com/office/officeart/2005/8/layout/list1"/>
    <dgm:cxn modelId="{AD2B9F33-7EAF-44EC-AA3C-9716BCD744B2}" type="presParOf" srcId="{20A64AF6-C98C-4580-BD02-AC87136D80D3}" destId="{D68F4B28-E9AF-4B93-9CBE-817350F7D0CC}" srcOrd="1" destOrd="0" presId="urn:microsoft.com/office/officeart/2005/8/layout/list1"/>
    <dgm:cxn modelId="{FF5F996E-1520-459F-BA7E-91637CB1B190}" type="presParOf" srcId="{70F9CE91-1156-4332-89BA-0627A9E11537}" destId="{11FDE127-9EA3-45DA-A20E-9726AADF533F}" srcOrd="1" destOrd="0" presId="urn:microsoft.com/office/officeart/2005/8/layout/list1"/>
    <dgm:cxn modelId="{16F0609E-309F-481A-BAB1-5CD7FDFDC993}" type="presParOf" srcId="{70F9CE91-1156-4332-89BA-0627A9E11537}" destId="{E3395DC8-9D24-4A30-AA55-28C50A38145E}" srcOrd="2" destOrd="0" presId="urn:microsoft.com/office/officeart/2005/8/layout/list1"/>
    <dgm:cxn modelId="{37C1D124-714D-473A-A38A-7BF8564112F1}" type="presParOf" srcId="{70F9CE91-1156-4332-89BA-0627A9E11537}" destId="{DE6F49D7-AE90-460C-B2FF-74E113AB5BAF}" srcOrd="3" destOrd="0" presId="urn:microsoft.com/office/officeart/2005/8/layout/list1"/>
    <dgm:cxn modelId="{0AB0F31A-D48C-4080-9F34-95CDDCCD75BC}" type="presParOf" srcId="{70F9CE91-1156-4332-89BA-0627A9E11537}" destId="{AA61E8C9-69C5-4F49-B220-B6E3AEA04979}" srcOrd="4" destOrd="0" presId="urn:microsoft.com/office/officeart/2005/8/layout/list1"/>
    <dgm:cxn modelId="{F3E9AED0-4BE9-42DD-9764-3636569F9BEF}" type="presParOf" srcId="{AA61E8C9-69C5-4F49-B220-B6E3AEA04979}" destId="{082CF92E-6F38-4070-AA2D-3DBDE60CBB52}" srcOrd="0" destOrd="0" presId="urn:microsoft.com/office/officeart/2005/8/layout/list1"/>
    <dgm:cxn modelId="{8D5EC6D1-E6FB-477D-BD6D-F4FC3305AE26}" type="presParOf" srcId="{AA61E8C9-69C5-4F49-B220-B6E3AEA04979}" destId="{A096F0EC-4A41-4952-9228-2F61A238C1BB}" srcOrd="1" destOrd="0" presId="urn:microsoft.com/office/officeart/2005/8/layout/list1"/>
    <dgm:cxn modelId="{49E965BD-4D17-4DB0-A709-62008D87566D}" type="presParOf" srcId="{70F9CE91-1156-4332-89BA-0627A9E11537}" destId="{25201F62-DDF3-4594-A74D-A5E157F7E926}" srcOrd="5" destOrd="0" presId="urn:microsoft.com/office/officeart/2005/8/layout/list1"/>
    <dgm:cxn modelId="{565DF12E-3A08-4151-BCC7-A4F8928B8079}" type="presParOf" srcId="{70F9CE91-1156-4332-89BA-0627A9E11537}" destId="{90D5E7FD-61B5-424A-BB46-EC6EF62A97EE}" srcOrd="6" destOrd="0" presId="urn:microsoft.com/office/officeart/2005/8/layout/list1"/>
    <dgm:cxn modelId="{994F0467-9EA9-416F-9CA0-AA4DEE2CE62A}" type="presParOf" srcId="{70F9CE91-1156-4332-89BA-0627A9E11537}" destId="{62207103-07AC-4FFF-9BD5-88DC2E279A13}" srcOrd="7" destOrd="0" presId="urn:microsoft.com/office/officeart/2005/8/layout/list1"/>
    <dgm:cxn modelId="{6CCF4F0B-9C48-4029-BBC1-7436D01EE7E2}" type="presParOf" srcId="{70F9CE91-1156-4332-89BA-0627A9E11537}" destId="{D56482D9-037C-45D4-820F-20ED27739487}" srcOrd="8" destOrd="0" presId="urn:microsoft.com/office/officeart/2005/8/layout/list1"/>
    <dgm:cxn modelId="{1866DF94-906B-4E1A-8200-36E7CA98A12D}" type="presParOf" srcId="{D56482D9-037C-45D4-820F-20ED27739487}" destId="{44B5C9ED-392F-4005-9412-B94EE68527E0}" srcOrd="0" destOrd="0" presId="urn:microsoft.com/office/officeart/2005/8/layout/list1"/>
    <dgm:cxn modelId="{D4B6B0BA-5C30-4801-B6EB-2B47CBB5DE1A}" type="presParOf" srcId="{D56482D9-037C-45D4-820F-20ED27739487}" destId="{8529CBDD-2FB1-4A29-8DBA-5A3B7657612B}" srcOrd="1" destOrd="0" presId="urn:microsoft.com/office/officeart/2005/8/layout/list1"/>
    <dgm:cxn modelId="{34D7BC54-AD96-472B-896B-40CA62276945}" type="presParOf" srcId="{70F9CE91-1156-4332-89BA-0627A9E11537}" destId="{59FA6525-E764-40EC-8460-CC1D35EFB5CA}" srcOrd="9" destOrd="0" presId="urn:microsoft.com/office/officeart/2005/8/layout/list1"/>
    <dgm:cxn modelId="{06B40E4A-310E-4C80-9AC8-DFF8797CAE1D}" type="presParOf" srcId="{70F9CE91-1156-4332-89BA-0627A9E11537}" destId="{D5DF6CEF-43A3-4308-9FB1-61C64A662C9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0AD1D6-E4A9-4FC7-A9D2-A0B620C57B7D}" type="doc">
      <dgm:prSet loTypeId="urn:microsoft.com/office/officeart/2005/8/layout/list1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de-CH"/>
        </a:p>
      </dgm:t>
    </dgm:pt>
    <dgm:pt modelId="{D7CA12A9-C9EF-4B26-83B7-81C37AD02594}">
      <dgm:prSet phldrT="[Text]" custT="1"/>
      <dgm:spPr/>
      <dgm:t>
        <a:bodyPr/>
        <a:lstStyle/>
        <a:p>
          <a:r>
            <a:rPr lang="en-GB" sz="1800" noProof="0" dirty="0"/>
            <a:t>Behavioural explanations</a:t>
          </a:r>
        </a:p>
      </dgm:t>
    </dgm:pt>
    <dgm:pt modelId="{2A9DE87B-91FF-48D9-BA4C-FC2B32C2781E}" type="parTrans" cxnId="{D9292EBD-5554-4796-BB92-1C3079CC029C}">
      <dgm:prSet/>
      <dgm:spPr/>
      <dgm:t>
        <a:bodyPr/>
        <a:lstStyle/>
        <a:p>
          <a:endParaRPr lang="de-CH" sz="1600"/>
        </a:p>
      </dgm:t>
    </dgm:pt>
    <dgm:pt modelId="{88E43269-C30D-4EA4-8507-4565E1327D84}" type="sibTrans" cxnId="{D9292EBD-5554-4796-BB92-1C3079CC029C}">
      <dgm:prSet/>
      <dgm:spPr/>
      <dgm:t>
        <a:bodyPr/>
        <a:lstStyle/>
        <a:p>
          <a:endParaRPr lang="de-CH" sz="1600"/>
        </a:p>
      </dgm:t>
    </dgm:pt>
    <dgm:pt modelId="{4BBC8AD4-7C5D-4CA9-96B9-D08C7D0E99FF}">
      <dgm:prSet phldrT="[Text]" custT="1"/>
      <dgm:spPr/>
      <dgm:t>
        <a:bodyPr/>
        <a:lstStyle/>
        <a:p>
          <a:r>
            <a:rPr lang="en-GB" sz="1800" noProof="0" dirty="0"/>
            <a:t>Material explanations</a:t>
          </a:r>
        </a:p>
      </dgm:t>
    </dgm:pt>
    <dgm:pt modelId="{4E1A937F-B098-4CC4-925F-6B30F35553FC}" type="parTrans" cxnId="{0A5E1D38-7669-456E-A865-2B941C829912}">
      <dgm:prSet/>
      <dgm:spPr/>
      <dgm:t>
        <a:bodyPr/>
        <a:lstStyle/>
        <a:p>
          <a:endParaRPr lang="de-CH" sz="1600"/>
        </a:p>
      </dgm:t>
    </dgm:pt>
    <dgm:pt modelId="{10A43B93-D05D-4CB2-BE02-331AEB72A753}" type="sibTrans" cxnId="{0A5E1D38-7669-456E-A865-2B941C829912}">
      <dgm:prSet/>
      <dgm:spPr/>
      <dgm:t>
        <a:bodyPr/>
        <a:lstStyle/>
        <a:p>
          <a:endParaRPr lang="de-CH" sz="1600"/>
        </a:p>
      </dgm:t>
    </dgm:pt>
    <dgm:pt modelId="{3FFB52EF-49CB-436E-9E54-22871308EB75}">
      <dgm:prSet phldrT="[Text]" custT="1"/>
      <dgm:spPr/>
      <dgm:t>
        <a:bodyPr/>
        <a:lstStyle/>
        <a:p>
          <a:r>
            <a:rPr lang="en-GB" sz="1800" noProof="0" dirty="0"/>
            <a:t>Psychosocial explanations</a:t>
          </a:r>
        </a:p>
      </dgm:t>
    </dgm:pt>
    <dgm:pt modelId="{4A25E853-5A07-4705-B85F-3723423C6DBF}" type="parTrans" cxnId="{BEEC25AF-F1CF-45DF-A836-6A05431907B3}">
      <dgm:prSet/>
      <dgm:spPr/>
      <dgm:t>
        <a:bodyPr/>
        <a:lstStyle/>
        <a:p>
          <a:endParaRPr lang="de-CH" sz="1600"/>
        </a:p>
      </dgm:t>
    </dgm:pt>
    <dgm:pt modelId="{AF2149FF-6CE3-48D8-9D2E-13BE59113FF0}" type="sibTrans" cxnId="{BEEC25AF-F1CF-45DF-A836-6A05431907B3}">
      <dgm:prSet/>
      <dgm:spPr/>
      <dgm:t>
        <a:bodyPr/>
        <a:lstStyle/>
        <a:p>
          <a:endParaRPr lang="de-CH" sz="1600"/>
        </a:p>
      </dgm:t>
    </dgm:pt>
    <dgm:pt modelId="{1BE9AE89-041F-4BF7-B894-F30A812AB4AA}">
      <dgm:prSet phldrT="[Text]" custT="1"/>
      <dgm:spPr/>
      <dgm:t>
        <a:bodyPr/>
        <a:lstStyle/>
        <a:p>
          <a:r>
            <a:rPr lang="en-GB" sz="1800" noProof="0" dirty="0"/>
            <a:t>Unequal health risks (smoking, diet, exercise, alcohol)</a:t>
          </a:r>
        </a:p>
      </dgm:t>
    </dgm:pt>
    <dgm:pt modelId="{C3C84050-69D9-407D-98EE-532773816147}" type="parTrans" cxnId="{60B7C1E5-B294-4621-A56A-0886B896790E}">
      <dgm:prSet/>
      <dgm:spPr/>
      <dgm:t>
        <a:bodyPr/>
        <a:lstStyle/>
        <a:p>
          <a:endParaRPr lang="de-CH" sz="1600"/>
        </a:p>
      </dgm:t>
    </dgm:pt>
    <dgm:pt modelId="{ACC156C3-A106-427C-9E33-928DE571047A}" type="sibTrans" cxnId="{60B7C1E5-B294-4621-A56A-0886B896790E}">
      <dgm:prSet/>
      <dgm:spPr/>
      <dgm:t>
        <a:bodyPr/>
        <a:lstStyle/>
        <a:p>
          <a:endParaRPr lang="de-CH" sz="1600"/>
        </a:p>
      </dgm:t>
    </dgm:pt>
    <dgm:pt modelId="{712B2759-E328-44CF-954F-F987B6C33E0F}">
      <dgm:prSet phldrT="[Text]" custT="1"/>
      <dgm:spPr/>
      <dgm:t>
        <a:bodyPr/>
        <a:lstStyle/>
        <a:p>
          <a:r>
            <a:rPr lang="en-GB" sz="1800" noProof="0" dirty="0"/>
            <a:t>Unequal living/working conditions and resources</a:t>
          </a:r>
        </a:p>
      </dgm:t>
    </dgm:pt>
    <dgm:pt modelId="{4A7DE624-5C55-4B94-A361-80E340F0249A}" type="parTrans" cxnId="{610056DF-CA3C-40D3-8CD4-E9CEADC12D7C}">
      <dgm:prSet/>
      <dgm:spPr/>
      <dgm:t>
        <a:bodyPr/>
        <a:lstStyle/>
        <a:p>
          <a:endParaRPr lang="de-CH" sz="1600"/>
        </a:p>
      </dgm:t>
    </dgm:pt>
    <dgm:pt modelId="{6EA18FC4-9FF7-49D6-B5F9-CC9B07E7C47B}" type="sibTrans" cxnId="{610056DF-CA3C-40D3-8CD4-E9CEADC12D7C}">
      <dgm:prSet/>
      <dgm:spPr/>
      <dgm:t>
        <a:bodyPr/>
        <a:lstStyle/>
        <a:p>
          <a:endParaRPr lang="de-CH" sz="1600"/>
        </a:p>
      </dgm:t>
    </dgm:pt>
    <dgm:pt modelId="{3F08EE14-2ACF-403F-B51A-7AD8BFE24C76}">
      <dgm:prSet phldrT="[Text]" custT="1"/>
      <dgm:spPr/>
      <dgm:t>
        <a:bodyPr/>
        <a:lstStyle/>
        <a:p>
          <a:r>
            <a:rPr lang="en-GB" sz="1800" noProof="0" dirty="0"/>
            <a:t>Unequal stress, job strain, social support, control</a:t>
          </a:r>
        </a:p>
      </dgm:t>
    </dgm:pt>
    <dgm:pt modelId="{E0EC1630-3215-414A-8B3E-CF964C23BE20}" type="parTrans" cxnId="{2A832A36-BF45-4BB5-A98F-34ECF9464BB0}">
      <dgm:prSet/>
      <dgm:spPr/>
      <dgm:t>
        <a:bodyPr/>
        <a:lstStyle/>
        <a:p>
          <a:endParaRPr lang="de-CH" sz="1600"/>
        </a:p>
      </dgm:t>
    </dgm:pt>
    <dgm:pt modelId="{9444CFCE-DC4E-4068-B75B-806416787396}" type="sibTrans" cxnId="{2A832A36-BF45-4BB5-A98F-34ECF9464BB0}">
      <dgm:prSet/>
      <dgm:spPr/>
      <dgm:t>
        <a:bodyPr/>
        <a:lstStyle/>
        <a:p>
          <a:endParaRPr lang="de-CH" sz="1600"/>
        </a:p>
      </dgm:t>
    </dgm:pt>
    <dgm:pt modelId="{70F9CE91-1156-4332-89BA-0627A9E11537}" type="pres">
      <dgm:prSet presAssocID="{730AD1D6-E4A9-4FC7-A9D2-A0B620C57B7D}" presName="linear" presStyleCnt="0">
        <dgm:presLayoutVars>
          <dgm:dir/>
          <dgm:animLvl val="lvl"/>
          <dgm:resizeHandles val="exact"/>
        </dgm:presLayoutVars>
      </dgm:prSet>
      <dgm:spPr/>
    </dgm:pt>
    <dgm:pt modelId="{20A64AF6-C98C-4580-BD02-AC87136D80D3}" type="pres">
      <dgm:prSet presAssocID="{D7CA12A9-C9EF-4B26-83B7-81C37AD02594}" presName="parentLin" presStyleCnt="0"/>
      <dgm:spPr/>
    </dgm:pt>
    <dgm:pt modelId="{DB6551C2-72EE-4A9F-8546-42CFA822D9A0}" type="pres">
      <dgm:prSet presAssocID="{D7CA12A9-C9EF-4B26-83B7-81C37AD02594}" presName="parentLeftMargin" presStyleLbl="node1" presStyleIdx="0" presStyleCnt="3"/>
      <dgm:spPr/>
    </dgm:pt>
    <dgm:pt modelId="{D68F4B28-E9AF-4B93-9CBE-817350F7D0CC}" type="pres">
      <dgm:prSet presAssocID="{D7CA12A9-C9EF-4B26-83B7-81C37AD0259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1FDE127-9EA3-45DA-A20E-9726AADF533F}" type="pres">
      <dgm:prSet presAssocID="{D7CA12A9-C9EF-4B26-83B7-81C37AD02594}" presName="negativeSpace" presStyleCnt="0"/>
      <dgm:spPr/>
    </dgm:pt>
    <dgm:pt modelId="{E3395DC8-9D24-4A30-AA55-28C50A38145E}" type="pres">
      <dgm:prSet presAssocID="{D7CA12A9-C9EF-4B26-83B7-81C37AD02594}" presName="childText" presStyleLbl="conFgAcc1" presStyleIdx="0" presStyleCnt="3">
        <dgm:presLayoutVars>
          <dgm:bulletEnabled val="1"/>
        </dgm:presLayoutVars>
      </dgm:prSet>
      <dgm:spPr/>
    </dgm:pt>
    <dgm:pt modelId="{DE6F49D7-AE90-460C-B2FF-74E113AB5BAF}" type="pres">
      <dgm:prSet presAssocID="{88E43269-C30D-4EA4-8507-4565E1327D84}" presName="spaceBetweenRectangles" presStyleCnt="0"/>
      <dgm:spPr/>
    </dgm:pt>
    <dgm:pt modelId="{AA61E8C9-69C5-4F49-B220-B6E3AEA04979}" type="pres">
      <dgm:prSet presAssocID="{4BBC8AD4-7C5D-4CA9-96B9-D08C7D0E99FF}" presName="parentLin" presStyleCnt="0"/>
      <dgm:spPr/>
    </dgm:pt>
    <dgm:pt modelId="{082CF92E-6F38-4070-AA2D-3DBDE60CBB52}" type="pres">
      <dgm:prSet presAssocID="{4BBC8AD4-7C5D-4CA9-96B9-D08C7D0E99FF}" presName="parentLeftMargin" presStyleLbl="node1" presStyleIdx="0" presStyleCnt="3"/>
      <dgm:spPr/>
    </dgm:pt>
    <dgm:pt modelId="{A096F0EC-4A41-4952-9228-2F61A238C1BB}" type="pres">
      <dgm:prSet presAssocID="{4BBC8AD4-7C5D-4CA9-96B9-D08C7D0E99F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5201F62-DDF3-4594-A74D-A5E157F7E926}" type="pres">
      <dgm:prSet presAssocID="{4BBC8AD4-7C5D-4CA9-96B9-D08C7D0E99FF}" presName="negativeSpace" presStyleCnt="0"/>
      <dgm:spPr/>
    </dgm:pt>
    <dgm:pt modelId="{90D5E7FD-61B5-424A-BB46-EC6EF62A97EE}" type="pres">
      <dgm:prSet presAssocID="{4BBC8AD4-7C5D-4CA9-96B9-D08C7D0E99FF}" presName="childText" presStyleLbl="conFgAcc1" presStyleIdx="1" presStyleCnt="3">
        <dgm:presLayoutVars>
          <dgm:bulletEnabled val="1"/>
        </dgm:presLayoutVars>
      </dgm:prSet>
      <dgm:spPr/>
    </dgm:pt>
    <dgm:pt modelId="{62207103-07AC-4FFF-9BD5-88DC2E279A13}" type="pres">
      <dgm:prSet presAssocID="{10A43B93-D05D-4CB2-BE02-331AEB72A753}" presName="spaceBetweenRectangles" presStyleCnt="0"/>
      <dgm:spPr/>
    </dgm:pt>
    <dgm:pt modelId="{D56482D9-037C-45D4-820F-20ED27739487}" type="pres">
      <dgm:prSet presAssocID="{3FFB52EF-49CB-436E-9E54-22871308EB75}" presName="parentLin" presStyleCnt="0"/>
      <dgm:spPr/>
    </dgm:pt>
    <dgm:pt modelId="{44B5C9ED-392F-4005-9412-B94EE68527E0}" type="pres">
      <dgm:prSet presAssocID="{3FFB52EF-49CB-436E-9E54-22871308EB75}" presName="parentLeftMargin" presStyleLbl="node1" presStyleIdx="1" presStyleCnt="3"/>
      <dgm:spPr/>
    </dgm:pt>
    <dgm:pt modelId="{8529CBDD-2FB1-4A29-8DBA-5A3B7657612B}" type="pres">
      <dgm:prSet presAssocID="{3FFB52EF-49CB-436E-9E54-22871308EB7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9FA6525-E764-40EC-8460-CC1D35EFB5CA}" type="pres">
      <dgm:prSet presAssocID="{3FFB52EF-49CB-436E-9E54-22871308EB75}" presName="negativeSpace" presStyleCnt="0"/>
      <dgm:spPr/>
    </dgm:pt>
    <dgm:pt modelId="{D5DF6CEF-43A3-4308-9FB1-61C64A662C9C}" type="pres">
      <dgm:prSet presAssocID="{3FFB52EF-49CB-436E-9E54-22871308EB7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94A130A-BB3E-4508-A47B-4D93666FA515}" type="presOf" srcId="{1BE9AE89-041F-4BF7-B894-F30A812AB4AA}" destId="{E3395DC8-9D24-4A30-AA55-28C50A38145E}" srcOrd="0" destOrd="0" presId="urn:microsoft.com/office/officeart/2005/8/layout/list1"/>
    <dgm:cxn modelId="{D4344922-3831-4269-8E81-D4C951FC1434}" type="presOf" srcId="{3FFB52EF-49CB-436E-9E54-22871308EB75}" destId="{8529CBDD-2FB1-4A29-8DBA-5A3B7657612B}" srcOrd="1" destOrd="0" presId="urn:microsoft.com/office/officeart/2005/8/layout/list1"/>
    <dgm:cxn modelId="{2A832A36-BF45-4BB5-A98F-34ECF9464BB0}" srcId="{3FFB52EF-49CB-436E-9E54-22871308EB75}" destId="{3F08EE14-2ACF-403F-B51A-7AD8BFE24C76}" srcOrd="0" destOrd="0" parTransId="{E0EC1630-3215-414A-8B3E-CF964C23BE20}" sibTransId="{9444CFCE-DC4E-4068-B75B-806416787396}"/>
    <dgm:cxn modelId="{0A5E1D38-7669-456E-A865-2B941C829912}" srcId="{730AD1D6-E4A9-4FC7-A9D2-A0B620C57B7D}" destId="{4BBC8AD4-7C5D-4CA9-96B9-D08C7D0E99FF}" srcOrd="1" destOrd="0" parTransId="{4E1A937F-B098-4CC4-925F-6B30F35553FC}" sibTransId="{10A43B93-D05D-4CB2-BE02-331AEB72A753}"/>
    <dgm:cxn modelId="{51EF3340-EFB0-4ECB-9254-329DB4E17D29}" type="presOf" srcId="{730AD1D6-E4A9-4FC7-A9D2-A0B620C57B7D}" destId="{70F9CE91-1156-4332-89BA-0627A9E11537}" srcOrd="0" destOrd="0" presId="urn:microsoft.com/office/officeart/2005/8/layout/list1"/>
    <dgm:cxn modelId="{CCA7106A-68F9-4B75-9AAF-AA2CFBC9B53A}" type="presOf" srcId="{D7CA12A9-C9EF-4B26-83B7-81C37AD02594}" destId="{DB6551C2-72EE-4A9F-8546-42CFA822D9A0}" srcOrd="0" destOrd="0" presId="urn:microsoft.com/office/officeart/2005/8/layout/list1"/>
    <dgm:cxn modelId="{D1838E6B-A558-4E7D-AD7F-1C2D61498DEA}" type="presOf" srcId="{4BBC8AD4-7C5D-4CA9-96B9-D08C7D0E99FF}" destId="{A096F0EC-4A41-4952-9228-2F61A238C1BB}" srcOrd="1" destOrd="0" presId="urn:microsoft.com/office/officeart/2005/8/layout/list1"/>
    <dgm:cxn modelId="{68A2DE80-BF45-4B60-9B69-C46E51E484A8}" type="presOf" srcId="{712B2759-E328-44CF-954F-F987B6C33E0F}" destId="{90D5E7FD-61B5-424A-BB46-EC6EF62A97EE}" srcOrd="0" destOrd="0" presId="urn:microsoft.com/office/officeart/2005/8/layout/list1"/>
    <dgm:cxn modelId="{79961181-B825-41C7-9A8B-A8A025EFD6A4}" type="presOf" srcId="{3FFB52EF-49CB-436E-9E54-22871308EB75}" destId="{44B5C9ED-392F-4005-9412-B94EE68527E0}" srcOrd="0" destOrd="0" presId="urn:microsoft.com/office/officeart/2005/8/layout/list1"/>
    <dgm:cxn modelId="{1AC52190-157E-4E26-8069-7EDAE19C5149}" type="presOf" srcId="{3F08EE14-2ACF-403F-B51A-7AD8BFE24C76}" destId="{D5DF6CEF-43A3-4308-9FB1-61C64A662C9C}" srcOrd="0" destOrd="0" presId="urn:microsoft.com/office/officeart/2005/8/layout/list1"/>
    <dgm:cxn modelId="{1EC4BF9E-B9F0-4147-98B1-1AC0C8E717A5}" type="presOf" srcId="{4BBC8AD4-7C5D-4CA9-96B9-D08C7D0E99FF}" destId="{082CF92E-6F38-4070-AA2D-3DBDE60CBB52}" srcOrd="0" destOrd="0" presId="urn:microsoft.com/office/officeart/2005/8/layout/list1"/>
    <dgm:cxn modelId="{BEEC25AF-F1CF-45DF-A836-6A05431907B3}" srcId="{730AD1D6-E4A9-4FC7-A9D2-A0B620C57B7D}" destId="{3FFB52EF-49CB-436E-9E54-22871308EB75}" srcOrd="2" destOrd="0" parTransId="{4A25E853-5A07-4705-B85F-3723423C6DBF}" sibTransId="{AF2149FF-6CE3-48D8-9D2E-13BE59113FF0}"/>
    <dgm:cxn modelId="{D9292EBD-5554-4796-BB92-1C3079CC029C}" srcId="{730AD1D6-E4A9-4FC7-A9D2-A0B620C57B7D}" destId="{D7CA12A9-C9EF-4B26-83B7-81C37AD02594}" srcOrd="0" destOrd="0" parTransId="{2A9DE87B-91FF-48D9-BA4C-FC2B32C2781E}" sibTransId="{88E43269-C30D-4EA4-8507-4565E1327D84}"/>
    <dgm:cxn modelId="{01632FCF-AA2A-455A-8D68-CC2CFBADD1F7}" type="presOf" srcId="{D7CA12A9-C9EF-4B26-83B7-81C37AD02594}" destId="{D68F4B28-E9AF-4B93-9CBE-817350F7D0CC}" srcOrd="1" destOrd="0" presId="urn:microsoft.com/office/officeart/2005/8/layout/list1"/>
    <dgm:cxn modelId="{610056DF-CA3C-40D3-8CD4-E9CEADC12D7C}" srcId="{4BBC8AD4-7C5D-4CA9-96B9-D08C7D0E99FF}" destId="{712B2759-E328-44CF-954F-F987B6C33E0F}" srcOrd="0" destOrd="0" parTransId="{4A7DE624-5C55-4B94-A361-80E340F0249A}" sibTransId="{6EA18FC4-9FF7-49D6-B5F9-CC9B07E7C47B}"/>
    <dgm:cxn modelId="{60B7C1E5-B294-4621-A56A-0886B896790E}" srcId="{D7CA12A9-C9EF-4B26-83B7-81C37AD02594}" destId="{1BE9AE89-041F-4BF7-B894-F30A812AB4AA}" srcOrd="0" destOrd="0" parTransId="{C3C84050-69D9-407D-98EE-532773816147}" sibTransId="{ACC156C3-A106-427C-9E33-928DE571047A}"/>
    <dgm:cxn modelId="{64672EBD-E79C-4D93-8866-424C1C4A360A}" type="presParOf" srcId="{70F9CE91-1156-4332-89BA-0627A9E11537}" destId="{20A64AF6-C98C-4580-BD02-AC87136D80D3}" srcOrd="0" destOrd="0" presId="urn:microsoft.com/office/officeart/2005/8/layout/list1"/>
    <dgm:cxn modelId="{F8697568-C9B6-4346-A04B-57DD8696C592}" type="presParOf" srcId="{20A64AF6-C98C-4580-BD02-AC87136D80D3}" destId="{DB6551C2-72EE-4A9F-8546-42CFA822D9A0}" srcOrd="0" destOrd="0" presId="urn:microsoft.com/office/officeart/2005/8/layout/list1"/>
    <dgm:cxn modelId="{AD2B9F33-7EAF-44EC-AA3C-9716BCD744B2}" type="presParOf" srcId="{20A64AF6-C98C-4580-BD02-AC87136D80D3}" destId="{D68F4B28-E9AF-4B93-9CBE-817350F7D0CC}" srcOrd="1" destOrd="0" presId="urn:microsoft.com/office/officeart/2005/8/layout/list1"/>
    <dgm:cxn modelId="{FF5F996E-1520-459F-BA7E-91637CB1B190}" type="presParOf" srcId="{70F9CE91-1156-4332-89BA-0627A9E11537}" destId="{11FDE127-9EA3-45DA-A20E-9726AADF533F}" srcOrd="1" destOrd="0" presId="urn:microsoft.com/office/officeart/2005/8/layout/list1"/>
    <dgm:cxn modelId="{16F0609E-309F-481A-BAB1-5CD7FDFDC993}" type="presParOf" srcId="{70F9CE91-1156-4332-89BA-0627A9E11537}" destId="{E3395DC8-9D24-4A30-AA55-28C50A38145E}" srcOrd="2" destOrd="0" presId="urn:microsoft.com/office/officeart/2005/8/layout/list1"/>
    <dgm:cxn modelId="{37C1D124-714D-473A-A38A-7BF8564112F1}" type="presParOf" srcId="{70F9CE91-1156-4332-89BA-0627A9E11537}" destId="{DE6F49D7-AE90-460C-B2FF-74E113AB5BAF}" srcOrd="3" destOrd="0" presId="urn:microsoft.com/office/officeart/2005/8/layout/list1"/>
    <dgm:cxn modelId="{0AB0F31A-D48C-4080-9F34-95CDDCCD75BC}" type="presParOf" srcId="{70F9CE91-1156-4332-89BA-0627A9E11537}" destId="{AA61E8C9-69C5-4F49-B220-B6E3AEA04979}" srcOrd="4" destOrd="0" presId="urn:microsoft.com/office/officeart/2005/8/layout/list1"/>
    <dgm:cxn modelId="{F3E9AED0-4BE9-42DD-9764-3636569F9BEF}" type="presParOf" srcId="{AA61E8C9-69C5-4F49-B220-B6E3AEA04979}" destId="{082CF92E-6F38-4070-AA2D-3DBDE60CBB52}" srcOrd="0" destOrd="0" presId="urn:microsoft.com/office/officeart/2005/8/layout/list1"/>
    <dgm:cxn modelId="{8D5EC6D1-E6FB-477D-BD6D-F4FC3305AE26}" type="presParOf" srcId="{AA61E8C9-69C5-4F49-B220-B6E3AEA04979}" destId="{A096F0EC-4A41-4952-9228-2F61A238C1BB}" srcOrd="1" destOrd="0" presId="urn:microsoft.com/office/officeart/2005/8/layout/list1"/>
    <dgm:cxn modelId="{49E965BD-4D17-4DB0-A709-62008D87566D}" type="presParOf" srcId="{70F9CE91-1156-4332-89BA-0627A9E11537}" destId="{25201F62-DDF3-4594-A74D-A5E157F7E926}" srcOrd="5" destOrd="0" presId="urn:microsoft.com/office/officeart/2005/8/layout/list1"/>
    <dgm:cxn modelId="{565DF12E-3A08-4151-BCC7-A4F8928B8079}" type="presParOf" srcId="{70F9CE91-1156-4332-89BA-0627A9E11537}" destId="{90D5E7FD-61B5-424A-BB46-EC6EF62A97EE}" srcOrd="6" destOrd="0" presId="urn:microsoft.com/office/officeart/2005/8/layout/list1"/>
    <dgm:cxn modelId="{994F0467-9EA9-416F-9CA0-AA4DEE2CE62A}" type="presParOf" srcId="{70F9CE91-1156-4332-89BA-0627A9E11537}" destId="{62207103-07AC-4FFF-9BD5-88DC2E279A13}" srcOrd="7" destOrd="0" presId="urn:microsoft.com/office/officeart/2005/8/layout/list1"/>
    <dgm:cxn modelId="{6CCF4F0B-9C48-4029-BBC1-7436D01EE7E2}" type="presParOf" srcId="{70F9CE91-1156-4332-89BA-0627A9E11537}" destId="{D56482D9-037C-45D4-820F-20ED27739487}" srcOrd="8" destOrd="0" presId="urn:microsoft.com/office/officeart/2005/8/layout/list1"/>
    <dgm:cxn modelId="{1866DF94-906B-4E1A-8200-36E7CA98A12D}" type="presParOf" srcId="{D56482D9-037C-45D4-820F-20ED27739487}" destId="{44B5C9ED-392F-4005-9412-B94EE68527E0}" srcOrd="0" destOrd="0" presId="urn:microsoft.com/office/officeart/2005/8/layout/list1"/>
    <dgm:cxn modelId="{D4B6B0BA-5C30-4801-B6EB-2B47CBB5DE1A}" type="presParOf" srcId="{D56482D9-037C-45D4-820F-20ED27739487}" destId="{8529CBDD-2FB1-4A29-8DBA-5A3B7657612B}" srcOrd="1" destOrd="0" presId="urn:microsoft.com/office/officeart/2005/8/layout/list1"/>
    <dgm:cxn modelId="{34D7BC54-AD96-472B-896B-40CA62276945}" type="presParOf" srcId="{70F9CE91-1156-4332-89BA-0627A9E11537}" destId="{59FA6525-E764-40EC-8460-CC1D35EFB5CA}" srcOrd="9" destOrd="0" presId="urn:microsoft.com/office/officeart/2005/8/layout/list1"/>
    <dgm:cxn modelId="{06B40E4A-310E-4C80-9AC8-DFF8797CAE1D}" type="presParOf" srcId="{70F9CE91-1156-4332-89BA-0627A9E11537}" destId="{D5DF6CEF-43A3-4308-9FB1-61C64A662C9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395DC8-9D24-4A30-AA55-28C50A38145E}">
      <dsp:nvSpPr>
        <dsp:cNvPr id="0" name=""/>
        <dsp:cNvSpPr/>
      </dsp:nvSpPr>
      <dsp:spPr>
        <a:xfrm>
          <a:off x="0" y="196964"/>
          <a:ext cx="7119506" cy="623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553" tIns="249936" rIns="552553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noProof="0" dirty="0"/>
            <a:t>Unequal health risks (smoking, diet, exercise, alcohol)</a:t>
          </a:r>
        </a:p>
      </dsp:txBody>
      <dsp:txXfrm>
        <a:off x="0" y="196964"/>
        <a:ext cx="7119506" cy="623700"/>
      </dsp:txXfrm>
    </dsp:sp>
    <dsp:sp modelId="{D68F4B28-E9AF-4B93-9CBE-817350F7D0CC}">
      <dsp:nvSpPr>
        <dsp:cNvPr id="0" name=""/>
        <dsp:cNvSpPr/>
      </dsp:nvSpPr>
      <dsp:spPr>
        <a:xfrm>
          <a:off x="355975" y="19844"/>
          <a:ext cx="4983654" cy="3542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370" tIns="0" rIns="18837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noProof="0" dirty="0"/>
            <a:t>Behavioural explanations</a:t>
          </a:r>
        </a:p>
      </dsp:txBody>
      <dsp:txXfrm>
        <a:off x="373268" y="37137"/>
        <a:ext cx="4949068" cy="319654"/>
      </dsp:txXfrm>
    </dsp:sp>
    <dsp:sp modelId="{90D5E7FD-61B5-424A-BB46-EC6EF62A97EE}">
      <dsp:nvSpPr>
        <dsp:cNvPr id="0" name=""/>
        <dsp:cNvSpPr/>
      </dsp:nvSpPr>
      <dsp:spPr>
        <a:xfrm>
          <a:off x="0" y="1062584"/>
          <a:ext cx="7119506" cy="623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553" tIns="249936" rIns="552553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noProof="0" dirty="0"/>
            <a:t>Unequal living/working conditions and resources</a:t>
          </a:r>
        </a:p>
      </dsp:txBody>
      <dsp:txXfrm>
        <a:off x="0" y="1062584"/>
        <a:ext cx="7119506" cy="623700"/>
      </dsp:txXfrm>
    </dsp:sp>
    <dsp:sp modelId="{A096F0EC-4A41-4952-9228-2F61A238C1BB}">
      <dsp:nvSpPr>
        <dsp:cNvPr id="0" name=""/>
        <dsp:cNvSpPr/>
      </dsp:nvSpPr>
      <dsp:spPr>
        <a:xfrm>
          <a:off x="355975" y="885464"/>
          <a:ext cx="4983654" cy="3542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370" tIns="0" rIns="18837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noProof="0" dirty="0"/>
            <a:t>Material explanations</a:t>
          </a:r>
        </a:p>
      </dsp:txBody>
      <dsp:txXfrm>
        <a:off x="373268" y="902757"/>
        <a:ext cx="4949068" cy="319654"/>
      </dsp:txXfrm>
    </dsp:sp>
    <dsp:sp modelId="{D5DF6CEF-43A3-4308-9FB1-61C64A662C9C}">
      <dsp:nvSpPr>
        <dsp:cNvPr id="0" name=""/>
        <dsp:cNvSpPr/>
      </dsp:nvSpPr>
      <dsp:spPr>
        <a:xfrm>
          <a:off x="0" y="1928204"/>
          <a:ext cx="7119506" cy="623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553" tIns="249936" rIns="552553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noProof="0" dirty="0"/>
            <a:t>Unequal stress, job strain, social support, control</a:t>
          </a:r>
        </a:p>
      </dsp:txBody>
      <dsp:txXfrm>
        <a:off x="0" y="1928204"/>
        <a:ext cx="7119506" cy="623700"/>
      </dsp:txXfrm>
    </dsp:sp>
    <dsp:sp modelId="{8529CBDD-2FB1-4A29-8DBA-5A3B7657612B}">
      <dsp:nvSpPr>
        <dsp:cNvPr id="0" name=""/>
        <dsp:cNvSpPr/>
      </dsp:nvSpPr>
      <dsp:spPr>
        <a:xfrm>
          <a:off x="355975" y="1751084"/>
          <a:ext cx="4983654" cy="3542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370" tIns="0" rIns="18837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noProof="0" dirty="0"/>
            <a:t>Psychosocial explanations</a:t>
          </a:r>
        </a:p>
      </dsp:txBody>
      <dsp:txXfrm>
        <a:off x="373268" y="1768377"/>
        <a:ext cx="4949068" cy="3196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395DC8-9D24-4A30-AA55-28C50A38145E}">
      <dsp:nvSpPr>
        <dsp:cNvPr id="0" name=""/>
        <dsp:cNvSpPr/>
      </dsp:nvSpPr>
      <dsp:spPr>
        <a:xfrm>
          <a:off x="0" y="196964"/>
          <a:ext cx="7119506" cy="623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553" tIns="249936" rIns="552553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noProof="0" dirty="0"/>
            <a:t>Unequal health risks (smoking, diet, exercise, alcohol)</a:t>
          </a:r>
        </a:p>
      </dsp:txBody>
      <dsp:txXfrm>
        <a:off x="0" y="196964"/>
        <a:ext cx="7119506" cy="623700"/>
      </dsp:txXfrm>
    </dsp:sp>
    <dsp:sp modelId="{D68F4B28-E9AF-4B93-9CBE-817350F7D0CC}">
      <dsp:nvSpPr>
        <dsp:cNvPr id="0" name=""/>
        <dsp:cNvSpPr/>
      </dsp:nvSpPr>
      <dsp:spPr>
        <a:xfrm>
          <a:off x="355975" y="19844"/>
          <a:ext cx="4983654" cy="3542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370" tIns="0" rIns="18837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noProof="0" dirty="0"/>
            <a:t>Behavioural explanations</a:t>
          </a:r>
        </a:p>
      </dsp:txBody>
      <dsp:txXfrm>
        <a:off x="373268" y="37137"/>
        <a:ext cx="4949068" cy="319654"/>
      </dsp:txXfrm>
    </dsp:sp>
    <dsp:sp modelId="{90D5E7FD-61B5-424A-BB46-EC6EF62A97EE}">
      <dsp:nvSpPr>
        <dsp:cNvPr id="0" name=""/>
        <dsp:cNvSpPr/>
      </dsp:nvSpPr>
      <dsp:spPr>
        <a:xfrm>
          <a:off x="0" y="1062584"/>
          <a:ext cx="7119506" cy="623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553" tIns="249936" rIns="552553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noProof="0" dirty="0"/>
            <a:t>Unequal living/working conditions and resources</a:t>
          </a:r>
        </a:p>
      </dsp:txBody>
      <dsp:txXfrm>
        <a:off x="0" y="1062584"/>
        <a:ext cx="7119506" cy="623700"/>
      </dsp:txXfrm>
    </dsp:sp>
    <dsp:sp modelId="{A096F0EC-4A41-4952-9228-2F61A238C1BB}">
      <dsp:nvSpPr>
        <dsp:cNvPr id="0" name=""/>
        <dsp:cNvSpPr/>
      </dsp:nvSpPr>
      <dsp:spPr>
        <a:xfrm>
          <a:off x="355975" y="885464"/>
          <a:ext cx="4983654" cy="3542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370" tIns="0" rIns="18837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noProof="0" dirty="0"/>
            <a:t>Material explanations</a:t>
          </a:r>
        </a:p>
      </dsp:txBody>
      <dsp:txXfrm>
        <a:off x="373268" y="902757"/>
        <a:ext cx="4949068" cy="319654"/>
      </dsp:txXfrm>
    </dsp:sp>
    <dsp:sp modelId="{D5DF6CEF-43A3-4308-9FB1-61C64A662C9C}">
      <dsp:nvSpPr>
        <dsp:cNvPr id="0" name=""/>
        <dsp:cNvSpPr/>
      </dsp:nvSpPr>
      <dsp:spPr>
        <a:xfrm>
          <a:off x="0" y="1928204"/>
          <a:ext cx="7119506" cy="623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553" tIns="249936" rIns="552553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noProof="0" dirty="0"/>
            <a:t>Unequal stress, job strain, social support, control</a:t>
          </a:r>
        </a:p>
      </dsp:txBody>
      <dsp:txXfrm>
        <a:off x="0" y="1928204"/>
        <a:ext cx="7119506" cy="623700"/>
      </dsp:txXfrm>
    </dsp:sp>
    <dsp:sp modelId="{8529CBDD-2FB1-4A29-8DBA-5A3B7657612B}">
      <dsp:nvSpPr>
        <dsp:cNvPr id="0" name=""/>
        <dsp:cNvSpPr/>
      </dsp:nvSpPr>
      <dsp:spPr>
        <a:xfrm>
          <a:off x="355975" y="1751084"/>
          <a:ext cx="4983654" cy="3542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370" tIns="0" rIns="18837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noProof="0" dirty="0"/>
            <a:t>Psychosocial explanations</a:t>
          </a:r>
        </a:p>
      </dsp:txBody>
      <dsp:txXfrm>
        <a:off x="373268" y="1768377"/>
        <a:ext cx="4949068" cy="319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B3D75AFC-8523-4A8C-B7F9-14975E0641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10C5F37-9EAE-42C6-8B79-796F88FC18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23CB64-7ED2-413E-92E5-9E5ECDDC5653}" type="datetimeFigureOut">
              <a:rPr lang="de-CH"/>
              <a:t>01.11.2025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3DF79E1-529E-4946-A158-7767C24D0F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3D8A2B9-091D-462C-86C8-F4BBAA36461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E85DD-9B08-498C-ABCE-CE60654D0F7C}" type="slidenum">
              <a:rPr lang="de-CH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133065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A5ABEF-1649-414E-9F1A-4DEFB4FDA52D}" type="datetimeFigureOut">
              <a:rPr lang="de-CH"/>
              <a:t>01.11.2025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143000"/>
            <a:ext cx="492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DBF93-C8C6-4EB3-9999-BD39A0010D16}" type="slidenum">
              <a:rPr lang="de-CH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59057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DBF93-C8C6-4EB3-9999-BD39A0010D16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78993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Explaining factors: 3 I’s (interests, ideology, institutions)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Overall, the findings support the fundamental attribution bias (Jones and Harris, 1967; Ross, 1977), where individuals tend to overemphasize individual factors while underestimating contextual factors in explaining others’ </a:t>
            </a:r>
            <a:r>
              <a:rPr lang="en-US" sz="1200" dirty="0" err="1"/>
              <a:t>behaviour</a:t>
            </a:r>
            <a:r>
              <a:rPr lang="en-US" sz="1200" dirty="0"/>
              <a:t>.</a:t>
            </a:r>
            <a:endParaRPr lang="de-CH" sz="1200" dirty="0"/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DBF93-C8C6-4EB3-9999-BD39A0010D16}" type="slidenum">
              <a:rPr lang="de-CH" smtClean="0"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09722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turn: Perceived unfairness of health inequalities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Support for Government Provision of Health Insurance</a:t>
            </a:r>
            <a:endParaRPr lang="de-CH" dirty="0"/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DBF93-C8C6-4EB3-9999-BD39A0010D16}" type="slidenum">
              <a:rPr lang="de-CH" smtClean="0"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98027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 err="1"/>
              <a:t>What</a:t>
            </a:r>
            <a:r>
              <a:rPr lang="de-CH" dirty="0"/>
              <a:t> do </a:t>
            </a:r>
            <a:r>
              <a:rPr lang="de-CH" dirty="0" err="1"/>
              <a:t>people</a:t>
            </a:r>
            <a:r>
              <a:rPr lang="de-CH" dirty="0"/>
              <a:t> </a:t>
            </a:r>
            <a:r>
              <a:rPr lang="de-CH" dirty="0" err="1"/>
              <a:t>understand</a:t>
            </a:r>
            <a:r>
              <a:rPr lang="de-CH" dirty="0"/>
              <a:t> </a:t>
            </a:r>
            <a:r>
              <a:rPr lang="de-CH" dirty="0" err="1"/>
              <a:t>by</a:t>
            </a:r>
            <a:r>
              <a:rPr lang="de-CH" dirty="0"/>
              <a:t> «</a:t>
            </a:r>
            <a:r>
              <a:rPr lang="de-CH" dirty="0" err="1"/>
              <a:t>severe</a:t>
            </a:r>
            <a:r>
              <a:rPr lang="de-CH" dirty="0"/>
              <a:t>» </a:t>
            </a:r>
            <a:r>
              <a:rPr lang="de-CH" dirty="0" err="1"/>
              <a:t>health</a:t>
            </a:r>
            <a:r>
              <a:rPr lang="de-CH" dirty="0"/>
              <a:t> </a:t>
            </a:r>
            <a:r>
              <a:rPr lang="de-CH" dirty="0" err="1"/>
              <a:t>problems</a:t>
            </a:r>
            <a:r>
              <a:rPr lang="de-CH" dirty="0"/>
              <a:t>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DBF93-C8C6-4EB3-9999-BD39A0010D16}" type="slidenum">
              <a:rPr lang="de-CH" smtClean="0"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56871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mailto:david.weisstanner@unilu.ch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&lt;Einzelfelder_Präsentationstitel&gt;">
            <a:extLst>
              <a:ext uri="{FF2B5EF4-FFF2-40B4-BE49-F238E27FC236}">
                <a16:creationId xmlns:a16="http://schemas.microsoft.com/office/drawing/2014/main" id="{21F5C175-5CDD-4119-8E88-D19A21B9E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9002" y="1448313"/>
            <a:ext cx="5066448" cy="2713997"/>
          </a:xfrm>
        </p:spPr>
        <p:txBody>
          <a:bodyPr anchor="t" anchorCtr="0"/>
          <a:lstStyle>
            <a:lvl1pPr algn="l">
              <a:defRPr sz="3800" spc="50" baseline="0"/>
            </a:lvl1pPr>
          </a:lstStyle>
          <a:p>
            <a:r>
              <a:rPr lang="en-US" dirty="0"/>
              <a:t>Click to edit Master title style</a:t>
            </a:r>
            <a:endParaRPr lang="de-CH" dirty="0"/>
          </a:p>
        </p:txBody>
      </p:sp>
      <p:sp>
        <p:nvSpPr>
          <p:cNvPr id="3" name="Untertitel 2" descr="&lt;Mitarbeitende_Ersteller_Mitarbeitende_FakultaetE&gt;&#10;&#10;&lt;mitarbeitende_ersteller_mitarbeitende_institutE&gt;">
            <a:extLst>
              <a:ext uri="{FF2B5EF4-FFF2-40B4-BE49-F238E27FC236}">
                <a16:creationId xmlns:a16="http://schemas.microsoft.com/office/drawing/2014/main" id="{BBD95983-37AF-4025-91FE-CAC128DFA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3550" y="368299"/>
            <a:ext cx="5040000" cy="684213"/>
          </a:xfrm>
        </p:spPr>
        <p:txBody>
          <a:bodyPr tIns="18000"/>
          <a:lstStyle>
            <a:lvl1pPr marL="0" indent="0" algn="l">
              <a:buNone/>
              <a:defRPr sz="1000" b="1" cap="all" spc="50" baseline="0"/>
            </a:lvl1pPr>
            <a:lvl2pPr marL="410428" indent="0" algn="ctr">
              <a:buNone/>
              <a:defRPr sz="1795"/>
            </a:lvl2pPr>
            <a:lvl3pPr marL="820857" indent="0" algn="ctr">
              <a:buNone/>
              <a:defRPr sz="1616"/>
            </a:lvl3pPr>
            <a:lvl4pPr marL="1231285" indent="0" algn="ctr">
              <a:buNone/>
              <a:defRPr sz="1436"/>
            </a:lvl4pPr>
            <a:lvl5pPr marL="1641714" indent="0" algn="ctr">
              <a:buNone/>
              <a:defRPr sz="1436"/>
            </a:lvl5pPr>
            <a:lvl6pPr marL="2052142" indent="0" algn="ctr">
              <a:buNone/>
              <a:defRPr sz="1436"/>
            </a:lvl6pPr>
            <a:lvl7pPr marL="2462571" indent="0" algn="ctr">
              <a:buNone/>
              <a:defRPr sz="1436"/>
            </a:lvl7pPr>
            <a:lvl8pPr marL="2872999" indent="0" algn="ctr">
              <a:buNone/>
              <a:defRPr sz="1436"/>
            </a:lvl8pPr>
            <a:lvl9pPr marL="3283428" indent="0" algn="ctr">
              <a:buNone/>
              <a:defRPr sz="1436"/>
            </a:lvl9pPr>
          </a:lstStyle>
          <a:p>
            <a:r>
              <a:rPr lang="en-US"/>
              <a:t>Click to edit Master subtitle style</a:t>
            </a:r>
            <a:endParaRPr lang="de-CH" dirty="0"/>
          </a:p>
        </p:txBody>
      </p:sp>
      <p:sp>
        <p:nvSpPr>
          <p:cNvPr id="18" name="Datumsplatzhalter 17" descr="&lt;Einzelfelder_Präsentationstitel&gt;, &lt;Einzelfelder_Datum&gt;">
            <a:extLst>
              <a:ext uri="{FF2B5EF4-FFF2-40B4-BE49-F238E27FC236}">
                <a16:creationId xmlns:a16="http://schemas.microsoft.com/office/drawing/2014/main" id="{B1323FEA-EBF4-4D0D-903F-F7D9F322AF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1" y="6417721"/>
            <a:ext cx="5039088" cy="216000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Title of the presentation, 15 April 2025</a:t>
            </a:r>
            <a:endParaRPr lang="de-CH" dirty="0"/>
          </a:p>
        </p:txBody>
      </p:sp>
      <p:sp>
        <p:nvSpPr>
          <p:cNvPr id="29" name="Bildplatzhalter 21">
            <a:extLst>
              <a:ext uri="{FF2B5EF4-FFF2-40B4-BE49-F238E27FC236}">
                <a16:creationId xmlns:a16="http://schemas.microsoft.com/office/drawing/2014/main" id="{6DAB252E-9367-4CCD-9C6E-4EF95D98F00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58775" y="1538287"/>
            <a:ext cx="4824000" cy="4824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CH" dirty="0"/>
              <a:t>Titelbild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A336A55-AC84-EF04-526F-9ACC05F6C5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3550" y="4529138"/>
            <a:ext cx="5065713" cy="1533525"/>
          </a:xfrm>
        </p:spPr>
        <p:txBody>
          <a:bodyPr/>
          <a:lstStyle>
            <a:lvl1pPr marL="171450" marR="0" indent="-171450" algn="l" defTabSz="820857" rtl="0" eaLnBrk="1" fontAlgn="auto" latinLnBrk="0" hangingPunct="1">
              <a:lnSpc>
                <a:spcPct val="117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*"/>
              <a:tabLst/>
              <a:defRPr sz="1200"/>
            </a:lvl1pPr>
          </a:lstStyle>
          <a:p>
            <a:pPr marL="0" marR="0" lvl="0" indent="0" algn="l" defTabSz="820857" rtl="0" eaLnBrk="1" fontAlgn="auto" latinLnBrk="0" hangingPunct="1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800" b="1" i="0" u="none" strike="noStrike" kern="1200" cap="all" spc="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Ass.-Prof. Dr. David Weisstanner</a:t>
            </a:r>
          </a:p>
          <a:p>
            <a:pPr marL="171450" marR="0" lvl="0" indent="-171450" algn="l" defTabSz="820857" rtl="0" eaLnBrk="1" fontAlgn="auto" latinLnBrk="0" hangingPunct="1">
              <a:lnSpc>
                <a:spcPct val="117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*"/>
              <a:tabLst/>
              <a:defRPr/>
            </a:pPr>
            <a:r>
              <a:rPr kumimoji="0" lang="de-CH" sz="1800" b="0" i="0" u="none" strike="noStrike" kern="1200" cap="none" spc="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hlinkClick r:id="rId2"/>
              </a:rPr>
              <a:t>david.weisstanner@unilu.ch</a:t>
            </a:r>
            <a:endParaRPr kumimoji="0" lang="de-CH" sz="1800" b="0" i="0" u="none" strike="noStrike" kern="1200" cap="none" spc="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2498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82" userDrawn="1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, 1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INHALT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14" y="654261"/>
            <a:ext cx="9923646" cy="375642"/>
          </a:xfrm>
        </p:spPr>
        <p:txBody>
          <a:bodyPr/>
          <a:lstStyle>
            <a:lvl1pPr algn="ctr">
              <a:defRPr sz="2800" b="1">
                <a:solidFill>
                  <a:srgbClr val="0068B4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1" y="6417721"/>
            <a:ext cx="5039088" cy="216000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Title of the presentation, 15 April 2025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/>
            </a:lvl1pPr>
          </a:lstStyle>
          <a:p>
            <a:endParaRPr lang="de-CH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3DCDC9-8581-4933-B09A-8E31DBD4F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8789" y="1521881"/>
            <a:ext cx="10083486" cy="465613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743765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INHALT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4845272"/>
            <a:ext cx="9550400" cy="360000"/>
          </a:xfrm>
        </p:spPr>
        <p:txBody>
          <a:bodyPr/>
          <a:lstStyle>
            <a:lvl1pPr algn="ctr">
              <a:defRPr sz="4400" b="1">
                <a:solidFill>
                  <a:srgbClr val="0068B4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1" y="6417721"/>
            <a:ext cx="5039088" cy="216000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Title of the presentation, 15 April 2025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de-CH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603492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BB907FC-8EEA-4706-98EB-1F20D0D83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09863"/>
            <a:ext cx="10224000" cy="3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CB51EB-182E-4020-8D86-3EF8848E6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8775" y="1484314"/>
            <a:ext cx="10224000" cy="47529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dirty="0"/>
              <a:t>Mastertextformat bearbeiten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  <a:p>
            <a:pPr lvl="5"/>
            <a:r>
              <a:rPr lang="de-CH" dirty="0"/>
              <a:t>Sechste Ebene</a:t>
            </a:r>
          </a:p>
        </p:txBody>
      </p:sp>
      <p:sp>
        <p:nvSpPr>
          <p:cNvPr id="5" name="Fußzeilenplatzhalter 4" descr="&lt;Mitarbeitende_Ersteller_Mitarbeitende_Titelmitname&gt;">
            <a:extLst>
              <a:ext uri="{FF2B5EF4-FFF2-40B4-BE49-F238E27FC236}">
                <a16:creationId xmlns:a16="http://schemas.microsoft.com/office/drawing/2014/main" id="{BA7469D3-D758-4D66-B52B-335D0B004E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43550" y="6417721"/>
            <a:ext cx="4176713" cy="216000"/>
          </a:xfrm>
          <a:prstGeom prst="rect">
            <a:avLst/>
          </a:prstGeom>
        </p:spPr>
        <p:txBody>
          <a:bodyPr vert="horz" lIns="0" tIns="0" rIns="0" bIns="18000" rtlCol="0" anchor="b" anchorCtr="0"/>
          <a:lstStyle>
            <a:lvl1pPr algn="l">
              <a:defRPr sz="700">
                <a:solidFill>
                  <a:srgbClr val="000000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B6E1BC-0BF1-4586-8DE0-316908CCD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84859" y="6525721"/>
            <a:ext cx="718050" cy="216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000000"/>
                </a:solidFill>
              </a:defRPr>
            </a:lvl1pPr>
          </a:lstStyle>
          <a:p>
            <a:fld id="{0A6ABA92-B65E-42F5-BB28-73DA50746AED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261252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5" r:id="rId3"/>
  </p:sldLayoutIdLst>
  <p:hf hdr="0" ftr="0" dt="0"/>
  <p:txStyles>
    <p:titleStyle>
      <a:lvl1pPr algn="l" defTabSz="820857" rtl="0" eaLnBrk="1" latinLnBrk="0" hangingPunct="1">
        <a:lnSpc>
          <a:spcPct val="95000"/>
        </a:lnSpc>
        <a:spcBef>
          <a:spcPct val="0"/>
        </a:spcBef>
        <a:buNone/>
        <a:defRPr sz="2000" b="1" kern="1200" cap="all" spc="30" baseline="0">
          <a:solidFill>
            <a:srgbClr val="000000"/>
          </a:solidFill>
          <a:latin typeface="+mj-lt"/>
          <a:ea typeface="+mj-ea"/>
          <a:cs typeface="+mj-cs"/>
        </a:defRPr>
      </a:lvl1pPr>
    </p:titleStyle>
    <p:bodyStyle>
      <a:lvl1pPr marL="0" indent="0" algn="l" defTabSz="864000" rtl="0" eaLnBrk="1" latinLnBrk="0" hangingPunct="1">
        <a:lnSpc>
          <a:spcPct val="105000"/>
        </a:lnSpc>
        <a:spcBef>
          <a:spcPts val="200"/>
        </a:spcBef>
        <a:spcAft>
          <a:spcPts val="100"/>
        </a:spcAft>
        <a:buFont typeface="Arial" panose="020B0604020202020204" pitchFamily="34" charset="0"/>
        <a:buNone/>
        <a:defRPr sz="1800" kern="1200">
          <a:solidFill>
            <a:srgbClr val="000000"/>
          </a:solidFill>
          <a:latin typeface="+mn-lt"/>
          <a:ea typeface="+mn-ea"/>
          <a:cs typeface="+mn-cs"/>
        </a:defRPr>
      </a:lvl1pPr>
      <a:lvl2pPr marL="216000" indent="-216000" algn="l" defTabSz="864000" rtl="0" eaLnBrk="1" latinLnBrk="0" hangingPunct="1">
        <a:lnSpc>
          <a:spcPct val="105000"/>
        </a:lnSpc>
        <a:spcBef>
          <a:spcPts val="200"/>
        </a:spcBef>
        <a:spcAft>
          <a:spcPts val="100"/>
        </a:spcAft>
        <a:buFont typeface="Arial" panose="020B0604020202020204" pitchFamily="34" charset="0"/>
        <a:buChar char="–"/>
        <a:defRPr sz="1800" kern="1200">
          <a:solidFill>
            <a:srgbClr val="000000"/>
          </a:solidFill>
          <a:latin typeface="+mn-lt"/>
          <a:ea typeface="+mn-ea"/>
          <a:cs typeface="+mn-cs"/>
        </a:defRPr>
      </a:lvl2pPr>
      <a:lvl3pPr marL="198000" indent="-270000" algn="l" defTabSz="864000" rtl="0" eaLnBrk="1" latinLnBrk="0" hangingPunct="1">
        <a:lnSpc>
          <a:spcPct val="105000"/>
        </a:lnSpc>
        <a:spcBef>
          <a:spcPts val="600"/>
        </a:spcBef>
        <a:spcAft>
          <a:spcPts val="100"/>
        </a:spcAft>
        <a:buFont typeface="+mj-lt"/>
        <a:buAutoNum type="arabicPeriod"/>
        <a:defRPr sz="1800" kern="1200">
          <a:solidFill>
            <a:srgbClr val="000000"/>
          </a:solidFill>
          <a:latin typeface="+mn-lt"/>
          <a:ea typeface="+mn-ea"/>
          <a:cs typeface="+mn-cs"/>
        </a:defRPr>
      </a:lvl3pPr>
      <a:lvl4pPr marL="432000" indent="-180000" algn="l" defTabSz="864000" rtl="0" eaLnBrk="1" latinLnBrk="0" hangingPunct="1">
        <a:lnSpc>
          <a:spcPct val="105000"/>
        </a:lnSpc>
        <a:spcBef>
          <a:spcPts val="200"/>
        </a:spcBef>
        <a:spcAft>
          <a:spcPts val="100"/>
        </a:spcAft>
        <a:buFont typeface="Wingdings" panose="05000000000000000000" pitchFamily="2" charset="2"/>
        <a:buChar char="§"/>
        <a:defRPr sz="1800" kern="1200">
          <a:solidFill>
            <a:srgbClr val="000000"/>
          </a:solidFill>
          <a:latin typeface="+mn-lt"/>
          <a:ea typeface="+mn-ea"/>
          <a:cs typeface="+mn-cs"/>
        </a:defRPr>
      </a:lvl4pPr>
      <a:lvl5pPr marL="648000" indent="-180000" algn="l" defTabSz="864000" rtl="0" eaLnBrk="1" latinLnBrk="0" hangingPunct="1">
        <a:lnSpc>
          <a:spcPct val="105000"/>
        </a:lnSpc>
        <a:spcBef>
          <a:spcPts val="200"/>
        </a:spcBef>
        <a:spcAft>
          <a:spcPts val="100"/>
        </a:spcAft>
        <a:buFont typeface="Courier New" panose="02070309020205020404" pitchFamily="49" charset="0"/>
        <a:buChar char="o"/>
        <a:defRPr sz="1800" kern="1200">
          <a:solidFill>
            <a:srgbClr val="000000"/>
          </a:solidFill>
          <a:latin typeface="+mn-lt"/>
          <a:ea typeface="+mn-ea"/>
          <a:cs typeface="+mn-cs"/>
        </a:defRPr>
      </a:lvl5pPr>
      <a:lvl6pPr marL="864000" indent="-180000" algn="l" defTabSz="864000" rtl="0" eaLnBrk="1" latinLnBrk="0" hangingPunct="1">
        <a:lnSpc>
          <a:spcPct val="105000"/>
        </a:lnSpc>
        <a:spcBef>
          <a:spcPts val="200"/>
        </a:spcBef>
        <a:spcAft>
          <a:spcPts val="100"/>
        </a:spcAft>
        <a:buFont typeface="Arial" panose="020B0604020202020204" pitchFamily="34" charset="0"/>
        <a:buChar char="–"/>
        <a:defRPr sz="1800" kern="1200">
          <a:solidFill>
            <a:srgbClr val="000000"/>
          </a:solidFill>
          <a:latin typeface="+mn-lt"/>
          <a:ea typeface="+mn-ea"/>
          <a:cs typeface="+mn-cs"/>
        </a:defRPr>
      </a:lvl6pPr>
      <a:lvl7pPr marL="1080000" indent="-216000" algn="l" defTabSz="864000" rtl="0" eaLnBrk="1" latinLnBrk="0" hangingPunct="1">
        <a:lnSpc>
          <a:spcPct val="105000"/>
        </a:lnSpc>
        <a:spcBef>
          <a:spcPts val="200"/>
        </a:spcBef>
        <a:spcAft>
          <a:spcPts val="100"/>
        </a:spcAft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7pPr>
      <a:lvl8pPr marL="1296000" indent="-216000" algn="l" defTabSz="864000" rtl="0" eaLnBrk="1" latinLnBrk="0" hangingPunct="1">
        <a:lnSpc>
          <a:spcPct val="105000"/>
        </a:lnSpc>
        <a:spcBef>
          <a:spcPts val="200"/>
        </a:spcBef>
        <a:spcAft>
          <a:spcPts val="100"/>
        </a:spcAft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8pPr>
      <a:lvl9pPr marL="1512000" indent="-216000" algn="l" defTabSz="864000" rtl="0" eaLnBrk="1" latinLnBrk="0" hangingPunct="1">
        <a:lnSpc>
          <a:spcPct val="105000"/>
        </a:lnSpc>
        <a:spcBef>
          <a:spcPts val="200"/>
        </a:spcBef>
        <a:spcAft>
          <a:spcPts val="100"/>
        </a:spcAft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1pPr>
      <a:lvl2pPr marL="410428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2pPr>
      <a:lvl3pPr marL="820857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3pPr>
      <a:lvl4pPr marL="1231285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4pPr>
      <a:lvl5pPr marL="1641714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5pPr>
      <a:lvl6pPr marL="2052142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6pPr>
      <a:lvl7pPr marL="2462571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7pPr>
      <a:lvl8pPr marL="2872999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8pPr>
      <a:lvl9pPr marL="3283428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26" userDrawn="1">
          <p15:clr>
            <a:srgbClr val="547EBF"/>
          </p15:clr>
        </p15:guide>
        <p15:guide id="2" pos="6668" userDrawn="1">
          <p15:clr>
            <a:srgbClr val="547EBF"/>
          </p15:clr>
        </p15:guide>
        <p15:guide id="5" orient="horz" pos="3929" userDrawn="1">
          <p15:clr>
            <a:srgbClr val="547EBF"/>
          </p15:clr>
        </p15:guide>
        <p15:guide id="6" orient="horz" pos="4178" userDrawn="1">
          <p15:clr>
            <a:srgbClr val="547EBF"/>
          </p15:clr>
        </p15:guide>
        <p15:guide id="8" pos="3492" userDrawn="1">
          <p15:clr>
            <a:srgbClr val="5ACBF0"/>
          </p15:clr>
        </p15:guide>
        <p15:guide id="9" pos="3402" userDrawn="1">
          <p15:clr>
            <a:srgbClr val="5ACBF0"/>
          </p15:clr>
        </p15:guide>
        <p15:guide id="10" pos="2948" userDrawn="1">
          <p15:clr>
            <a:srgbClr val="5ACBF0"/>
          </p15:clr>
        </p15:guide>
        <p15:guide id="11" pos="2857" userDrawn="1">
          <p15:clr>
            <a:srgbClr val="5ACBF0"/>
          </p15:clr>
        </p15:guide>
        <p15:guide id="12" pos="2404" userDrawn="1">
          <p15:clr>
            <a:srgbClr val="5ACBF0"/>
          </p15:clr>
        </p15:guide>
        <p15:guide id="13" pos="2313" userDrawn="1">
          <p15:clr>
            <a:srgbClr val="5ACBF0"/>
          </p15:clr>
        </p15:guide>
        <p15:guide id="14" pos="1859" userDrawn="1">
          <p15:clr>
            <a:srgbClr val="5ACBF0"/>
          </p15:clr>
        </p15:guide>
        <p15:guide id="15" pos="1769" userDrawn="1">
          <p15:clr>
            <a:srgbClr val="5ACBF0"/>
          </p15:clr>
        </p15:guide>
        <p15:guide id="16" pos="1315" userDrawn="1">
          <p15:clr>
            <a:srgbClr val="5ACBF0"/>
          </p15:clr>
        </p15:guide>
        <p15:guide id="17" pos="1224" userDrawn="1">
          <p15:clr>
            <a:srgbClr val="5ACBF0"/>
          </p15:clr>
        </p15:guide>
        <p15:guide id="18" pos="771" userDrawn="1">
          <p15:clr>
            <a:srgbClr val="5ACBF0"/>
          </p15:clr>
        </p15:guide>
        <p15:guide id="19" pos="680" userDrawn="1">
          <p15:clr>
            <a:srgbClr val="5ACBF0"/>
          </p15:clr>
        </p15:guide>
        <p15:guide id="20" pos="3946" userDrawn="1">
          <p15:clr>
            <a:srgbClr val="5ACBF0"/>
          </p15:clr>
        </p15:guide>
        <p15:guide id="21" pos="4037" userDrawn="1">
          <p15:clr>
            <a:srgbClr val="5ACBF0"/>
          </p15:clr>
        </p15:guide>
        <p15:guide id="22" pos="4581" userDrawn="1">
          <p15:clr>
            <a:srgbClr val="5ACBF0"/>
          </p15:clr>
        </p15:guide>
        <p15:guide id="23" pos="4490" userDrawn="1">
          <p15:clr>
            <a:srgbClr val="5ACBF0"/>
          </p15:clr>
        </p15:guide>
        <p15:guide id="24" pos="5035" userDrawn="1">
          <p15:clr>
            <a:srgbClr val="5ACBF0"/>
          </p15:clr>
        </p15:guide>
        <p15:guide id="25" pos="5125" userDrawn="1">
          <p15:clr>
            <a:srgbClr val="5ACBF0"/>
          </p15:clr>
        </p15:guide>
        <p15:guide id="26" pos="5579" userDrawn="1">
          <p15:clr>
            <a:srgbClr val="5ACBF0"/>
          </p15:clr>
        </p15:guide>
        <p15:guide id="27" pos="5670" userDrawn="1">
          <p15:clr>
            <a:srgbClr val="5ACBF0"/>
          </p15:clr>
        </p15:guide>
        <p15:guide id="28" pos="6123" userDrawn="1">
          <p15:clr>
            <a:srgbClr val="5ACBF0"/>
          </p15:clr>
        </p15:guide>
        <p15:guide id="29" pos="6214" userDrawn="1">
          <p15:clr>
            <a:srgbClr val="5ACBF0"/>
          </p15:clr>
        </p15:guide>
        <p15:guide id="32" orient="horz" pos="232" userDrawn="1">
          <p15:clr>
            <a:srgbClr val="547EBF"/>
          </p15:clr>
        </p15:guide>
        <p15:guide id="36" orient="horz" pos="969" userDrawn="1">
          <p15:clr>
            <a:srgbClr val="5ACBF0"/>
          </p15:clr>
        </p15:guide>
        <p15:guide id="37" orient="horz" pos="663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letmegooglethat.com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80/10810730.2013.768724" TargetMode="External"/><Relationship Id="rId3" Type="http://schemas.openxmlformats.org/officeDocument/2006/relationships/hyperlink" Target="https://doi.org/10.1093/esr/jcae049" TargetMode="External"/><Relationship Id="rId7" Type="http://schemas.openxmlformats.org/officeDocument/2006/relationships/hyperlink" Target="https://doi.org/10.1215/03616878-1460578" TargetMode="External"/><Relationship Id="rId12" Type="http://schemas.openxmlformats.org/officeDocument/2006/relationships/hyperlink" Target="https://doi.org/10.1016/j.healthpol.2025.105445" TargetMode="External"/><Relationship Id="rId2" Type="http://schemas.openxmlformats.org/officeDocument/2006/relationships/hyperlink" Target="https://doi.org/10.1016/j.socscimed.2025.11794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93/phe/phz008" TargetMode="External"/><Relationship Id="rId11" Type="http://schemas.openxmlformats.org/officeDocument/2006/relationships/hyperlink" Target="https://doi.org/10.1108/S0275-495920150000033002" TargetMode="External"/><Relationship Id="rId5" Type="http://schemas.openxmlformats.org/officeDocument/2006/relationships/hyperlink" Target="https://doi.org/10.1111/jasp.12955" TargetMode="External"/><Relationship Id="rId10" Type="http://schemas.openxmlformats.org/officeDocument/2006/relationships/hyperlink" Target="https://doi.org/10.4135/9781526486387" TargetMode="External"/><Relationship Id="rId4" Type="http://schemas.openxmlformats.org/officeDocument/2006/relationships/hyperlink" Target="https://doi.org/10.1002/ijop.12928" TargetMode="External"/><Relationship Id="rId9" Type="http://schemas.openxmlformats.org/officeDocument/2006/relationships/hyperlink" Target="https://doi.org/10.1215/03616878-2010-03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>
            <a:extLst>
              <a:ext uri="{FF2B5EF4-FFF2-40B4-BE49-F238E27FC236}">
                <a16:creationId xmlns:a16="http://schemas.microsoft.com/office/drawing/2014/main" id="{E98A9F4D-1DC9-9B15-B829-BCC7FA06C57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l="6136" r="4773"/>
          <a:stretch>
            <a:fillRect/>
          </a:stretch>
        </p:blipFill>
        <p:spPr>
          <a:xfrm>
            <a:off x="0" y="0"/>
            <a:ext cx="10944225" cy="686814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94F14CC-4D14-46F5-B520-ADCE2CD58B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93" y="133665"/>
            <a:ext cx="1355467" cy="334795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1C813FDB-2757-6E2D-8B33-097B6E97B20B}"/>
              </a:ext>
            </a:extLst>
          </p:cNvPr>
          <p:cNvSpPr txBox="1"/>
          <p:nvPr/>
        </p:nvSpPr>
        <p:spPr>
          <a:xfrm>
            <a:off x="1736438" y="1044624"/>
            <a:ext cx="7777017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Health Inequality and Public Policy</a:t>
            </a:r>
          </a:p>
          <a:p>
            <a:endParaRPr lang="en-GB" sz="4000" b="1" noProof="0" dirty="0">
              <a:solidFill>
                <a:srgbClr val="0070C0"/>
              </a:solidFill>
              <a:latin typeface="+mj-lt"/>
            </a:endParaRPr>
          </a:p>
          <a:p>
            <a:pPr algn="ctr"/>
            <a:r>
              <a:rPr lang="en-GB" sz="4000" b="1" noProof="0" dirty="0">
                <a:solidFill>
                  <a:srgbClr val="0070C0"/>
                </a:solidFill>
                <a:latin typeface="+mj-lt"/>
              </a:rPr>
              <a:t>(4)</a:t>
            </a:r>
          </a:p>
          <a:p>
            <a:pPr algn="ctr"/>
            <a:r>
              <a:rPr lang="en-GB" sz="4000" b="1" noProof="0" dirty="0">
                <a:solidFill>
                  <a:srgbClr val="0070C0"/>
                </a:solidFill>
                <a:latin typeface="+mj-lt"/>
              </a:rPr>
              <a:t>Health inequality attributions</a:t>
            </a:r>
          </a:p>
          <a:p>
            <a:pPr algn="ctr"/>
            <a:endParaRPr lang="en-GB" sz="2400" noProof="0" dirty="0"/>
          </a:p>
          <a:p>
            <a:pPr algn="ctr"/>
            <a:endParaRPr lang="en-GB" sz="2400" noProof="0" dirty="0"/>
          </a:p>
          <a:p>
            <a:pPr algn="ctr"/>
            <a:r>
              <a:rPr lang="en-GB" sz="2400" noProof="0" dirty="0"/>
              <a:t>Monday, 6. October 2025</a:t>
            </a:r>
          </a:p>
          <a:p>
            <a:pPr algn="ctr"/>
            <a:endParaRPr lang="en-GB" noProof="0" dirty="0"/>
          </a:p>
          <a:p>
            <a:pPr algn="ctr"/>
            <a:endParaRPr lang="en-GB" noProof="0" dirty="0"/>
          </a:p>
          <a:p>
            <a:pPr algn="ctr"/>
            <a:r>
              <a:rPr lang="en-GB" noProof="0" dirty="0"/>
              <a:t>Ass.-Prof. Dr. David Weisstanner</a:t>
            </a:r>
          </a:p>
          <a:p>
            <a:pPr algn="ctr"/>
            <a:r>
              <a:rPr lang="en-GB" noProof="0" dirty="0"/>
              <a:t>Faculty of Health Sciences and Medicine</a:t>
            </a:r>
          </a:p>
          <a:p>
            <a:pPr algn="ctr"/>
            <a:r>
              <a:rPr lang="en-GB" noProof="0" dirty="0"/>
              <a:t>University of Lucerne</a:t>
            </a:r>
          </a:p>
        </p:txBody>
      </p:sp>
    </p:spTree>
    <p:extLst>
      <p:ext uri="{BB962C8B-B14F-4D97-AF65-F5344CB8AC3E}">
        <p14:creationId xmlns:p14="http://schemas.microsoft.com/office/powerpoint/2010/main" val="880537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2A2B7D-35B9-32BF-2C70-AC540511B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Organizational: Presentations written project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3704481-03FF-0CC8-CA40-B30E33B5C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en-GB" noProof="0" smtClean="0"/>
              <a:t>2</a:t>
            </a:fld>
            <a:endParaRPr lang="en-GB" noProof="0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D746E312-CF64-C4E5-B3F9-927E19578F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971934"/>
              </p:ext>
            </p:extLst>
          </p:nvPr>
        </p:nvGraphicFramePr>
        <p:xfrm>
          <a:off x="1142337" y="1863090"/>
          <a:ext cx="8640000" cy="406146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4320000">
                  <a:extLst>
                    <a:ext uri="{9D8B030D-6E8A-4147-A177-3AD203B41FA5}">
                      <a16:colId xmlns:a16="http://schemas.microsoft.com/office/drawing/2014/main" val="4206882562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57637678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800" noProof="0" dirty="0">
                          <a:effectLst/>
                        </a:rPr>
                        <a:t>24. November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800" noProof="0" dirty="0">
                          <a:effectLst/>
                        </a:rPr>
                        <a:t>1. December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98144004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800" noProof="0" dirty="0">
                          <a:effectLst/>
                        </a:rPr>
                        <a:t>Cedric Aschwanden &amp; Micha Derendinger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800" noProof="0" dirty="0">
                          <a:effectLst/>
                        </a:rPr>
                        <a:t>Lara Stiefel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13465185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800" noProof="0" dirty="0">
                          <a:effectLst/>
                        </a:rPr>
                        <a:t>Larissa Kappes &amp; Lenya Helfenstein 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800" noProof="0" dirty="0">
                          <a:effectLst/>
                        </a:rPr>
                        <a:t>Yelina van Gennep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64344059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800" noProof="0" dirty="0">
                          <a:effectLst/>
                        </a:rPr>
                        <a:t>Rahel Schuler &amp; Anina Landert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800" noProof="0" dirty="0">
                          <a:effectLst/>
                        </a:rPr>
                        <a:t>Joelle Küng &amp; Valentina Vuckovic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18447693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800" noProof="0" dirty="0">
                          <a:effectLst/>
                        </a:rPr>
                        <a:t>Annina Neff &amp; Luc Party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800" noProof="0" dirty="0">
                          <a:effectLst/>
                        </a:rPr>
                        <a:t>Ekaterina Protsenko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96999826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800" noProof="0" dirty="0">
                          <a:effectLst/>
                        </a:rPr>
                        <a:t>Luana Veiga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800" noProof="0" dirty="0">
                          <a:effectLst/>
                        </a:rPr>
                        <a:t>Raja Pfisterer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00281616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800" noProof="0" dirty="0">
                          <a:effectLst/>
                        </a:rPr>
                        <a:t>Angela Häberli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800" noProof="0" dirty="0">
                          <a:effectLst/>
                        </a:rPr>
                        <a:t>Ronja Stahl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1518237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800" noProof="0" dirty="0">
                          <a:effectLst/>
                        </a:rPr>
                        <a:t>Lisa Stocker &amp; Alina Holdener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800" noProof="0" dirty="0">
                          <a:effectLst/>
                        </a:rPr>
                        <a:t>Leon Maximilian Strauß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86101625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800" noProof="0" dirty="0">
                          <a:effectLst/>
                        </a:rPr>
                        <a:t>Kevin Cody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800" noProof="0" dirty="0">
                          <a:effectLst/>
                        </a:rPr>
                        <a:t>Beatrice Bättig &amp; Sandra Steinmann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81292566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800" noProof="0" dirty="0">
                          <a:effectLst/>
                        </a:rPr>
                        <a:t>Ladina Zimmermann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800" noProof="0" dirty="0">
                          <a:effectLst/>
                        </a:rPr>
                        <a:t>Joelle Erismann &amp; Sarah Suter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064144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800" noProof="0" dirty="0">
                          <a:effectLst/>
                        </a:rPr>
                        <a:t>Linda Keller &amp; Natacha Wälti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800" noProof="0" dirty="0">
                          <a:effectLst/>
                        </a:rPr>
                        <a:t>Liza Widmer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49825166"/>
                  </a:ext>
                </a:extLst>
              </a:tr>
              <a:tr h="20360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800" noProof="0" dirty="0">
                          <a:effectLst/>
                        </a:rPr>
                        <a:t>Leoni Ritter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800" noProof="0" dirty="0">
                          <a:effectLst/>
                        </a:rPr>
                        <a:t>Solange Herrera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1806751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800" noProof="0" dirty="0">
                          <a:effectLst/>
                        </a:rPr>
                        <a:t>Elena Waibel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GB" sz="1800" noProof="0" dirty="0">
                        <a:effectLst/>
                      </a:endParaRP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909229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1624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0D8F80-A8D8-F23D-5EFF-5268D89BF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Recap last week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BD8763B-8AB8-06C6-BDD7-C49F4B99A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en-GB" noProof="0" smtClean="0"/>
              <a:t>3</a:t>
            </a:fld>
            <a:endParaRPr lang="en-GB" noProof="0" dirty="0"/>
          </a:p>
        </p:txBody>
      </p:sp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A979872F-5AE7-2E1D-00A7-B1F7B99213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1936038"/>
              </p:ext>
            </p:extLst>
          </p:nvPr>
        </p:nvGraphicFramePr>
        <p:xfrm>
          <a:off x="1674234" y="1524001"/>
          <a:ext cx="7119506" cy="2571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9864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70BBE-F2FF-431B-9A90-5A5D15EDA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D9DF34-5AED-6A8F-7291-CB19FA17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Link to this week’s topic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1E3086B-E5A7-A890-A4BC-861CC2AEB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en-GB" noProof="0" smtClean="0"/>
              <a:t>4</a:t>
            </a:fld>
            <a:endParaRPr lang="en-GB" noProof="0" dirty="0"/>
          </a:p>
        </p:txBody>
      </p: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21F04270-A1C7-6863-3053-C5C72C949E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3628376"/>
              </p:ext>
            </p:extLst>
          </p:nvPr>
        </p:nvGraphicFramePr>
        <p:xfrm>
          <a:off x="1674234" y="1524001"/>
          <a:ext cx="7119506" cy="2571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3E302D33-E2E9-BB64-F2EF-6F5287CD76A5}"/>
              </a:ext>
            </a:extLst>
          </p:cNvPr>
          <p:cNvSpPr txBox="1"/>
          <p:nvPr/>
        </p:nvSpPr>
        <p:spPr>
          <a:xfrm>
            <a:off x="1940230" y="4458294"/>
            <a:ext cx="7063763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noProof="0" dirty="0">
                <a:sym typeface="Wingdings" panose="05000000000000000000" pitchFamily="2" charset="2"/>
              </a:rPr>
              <a:t>These are </a:t>
            </a:r>
            <a:r>
              <a:rPr lang="en-GB" b="1" noProof="0" dirty="0">
                <a:latin typeface="+mj-lt"/>
              </a:rPr>
              <a:t>causal models</a:t>
            </a:r>
            <a:r>
              <a:rPr lang="en-GB" noProof="0" dirty="0"/>
              <a:t>, rooted in epidemiology/social medicine, about what drives health outcomes. </a:t>
            </a:r>
            <a:r>
              <a:rPr lang="en-GB" sz="1400" noProof="0" dirty="0"/>
              <a:t>(objectively)</a:t>
            </a:r>
            <a:endParaRPr lang="en-GB" noProof="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1000" noProof="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000" b="1" noProof="0" dirty="0">
                <a:latin typeface="+mj-lt"/>
              </a:rPr>
              <a:t>This week: </a:t>
            </a:r>
            <a:r>
              <a:rPr lang="en-GB" sz="2000" b="1" noProof="0" dirty="0">
                <a:solidFill>
                  <a:srgbClr val="0068B4"/>
                </a:solidFill>
                <a:latin typeface="+mj-lt"/>
              </a:rPr>
              <a:t>When ordinary citizens are confronted with health inequality, how do they explain it?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(subjectively)</a:t>
            </a:r>
            <a:endParaRPr lang="en-GB" sz="2000" b="1" noProof="0" dirty="0">
              <a:solidFill>
                <a:srgbClr val="0068B4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32628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A4A555-4564-6010-81D0-5F4BE4DAF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Baute’s typology of health inequality attribution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BE335F3-1AA7-E1E5-4A66-16709BDC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en-GB" noProof="0" smtClean="0"/>
              <a:t>5</a:t>
            </a:fld>
            <a:endParaRPr lang="en-GB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276EC38-BD2D-31C2-472C-63B8D95D9A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8789" y="1521881"/>
            <a:ext cx="9369111" cy="4656138"/>
          </a:xfrm>
        </p:spPr>
        <p:txBody>
          <a:bodyPr/>
          <a:lstStyle/>
          <a:p>
            <a:pPr marL="342900" indent="-342900">
              <a:buAutoNum type="arabicPeriod"/>
            </a:pPr>
            <a:endParaRPr lang="en-GB" b="1" noProof="0" dirty="0">
              <a:latin typeface="+mj-lt"/>
            </a:endParaRPr>
          </a:p>
          <a:p>
            <a:pPr marL="342900" indent="-342900">
              <a:buAutoNum type="arabicPeriod"/>
            </a:pPr>
            <a:r>
              <a:rPr lang="en-GB" b="1" noProof="0" dirty="0">
                <a:latin typeface="+mj-lt"/>
              </a:rPr>
              <a:t>Behavioural attribution</a:t>
            </a:r>
          </a:p>
          <a:p>
            <a:pPr marL="774900" lvl="3" indent="-342900"/>
            <a:r>
              <a:rPr lang="en-GB" noProof="0" dirty="0"/>
              <a:t>Health-risk behaviours (smoking, diet, activity, alcohol), lifestyle &amp; choices</a:t>
            </a:r>
          </a:p>
          <a:p>
            <a:pPr marL="774900" lvl="3" indent="-342900"/>
            <a:endParaRPr lang="en-GB" noProof="0" dirty="0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GB" b="1" noProof="0" dirty="0">
                <a:latin typeface="+mj-lt"/>
              </a:rPr>
              <a:t>Biological attribution</a:t>
            </a:r>
          </a:p>
          <a:p>
            <a:pPr marL="774900" lvl="3" indent="-342900"/>
            <a:r>
              <a:rPr lang="en-GB" noProof="0" dirty="0"/>
              <a:t>Genetics, inborn traits, health selection</a:t>
            </a:r>
          </a:p>
          <a:p>
            <a:pPr marL="774900" lvl="3" indent="-342900"/>
            <a:endParaRPr lang="en-GB" noProof="0" dirty="0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GB" b="1" noProof="0" dirty="0">
                <a:latin typeface="+mj-lt"/>
              </a:rPr>
              <a:t>Environmental attribution</a:t>
            </a:r>
          </a:p>
          <a:p>
            <a:pPr marL="774900" lvl="3" indent="-342900"/>
            <a:r>
              <a:rPr lang="en-GB" noProof="0" dirty="0"/>
              <a:t>Living &amp; working conditions, pollution, housing, hazards</a:t>
            </a:r>
          </a:p>
          <a:p>
            <a:pPr marL="774900" lvl="3" indent="-342900"/>
            <a:endParaRPr lang="en-GB" noProof="0" dirty="0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GB" b="1" noProof="0" dirty="0">
                <a:latin typeface="+mj-lt"/>
              </a:rPr>
              <a:t>Healthcare attribution</a:t>
            </a:r>
          </a:p>
          <a:p>
            <a:pPr marL="774900" lvl="3" indent="-342900"/>
            <a:r>
              <a:rPr lang="en-GB" noProof="0" dirty="0"/>
              <a:t>Unequal access, treatment quality, provider bias, system barriers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A80924C-A5DE-F781-7938-C8110CEAA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Baute (2025)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34B3587-9E14-59E8-4D99-A26A1BC52C81}"/>
              </a:ext>
            </a:extLst>
          </p:cNvPr>
          <p:cNvSpPr txBox="1"/>
          <p:nvPr/>
        </p:nvSpPr>
        <p:spPr>
          <a:xfrm>
            <a:off x="7972690" y="2992982"/>
            <a:ext cx="2304785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GB" b="1" noProof="0" dirty="0">
              <a:solidFill>
                <a:srgbClr val="00963E"/>
              </a:solidFill>
              <a:latin typeface="+mj-lt"/>
            </a:endParaRPr>
          </a:p>
          <a:p>
            <a:r>
              <a:rPr lang="en-GB" sz="2000" b="1" noProof="0" dirty="0">
                <a:solidFill>
                  <a:srgbClr val="00963E"/>
                </a:solidFill>
                <a:latin typeface="+mj-lt"/>
              </a:rPr>
              <a:t>Overlap with last week’s theories of health inequality?</a:t>
            </a:r>
          </a:p>
          <a:p>
            <a:endParaRPr lang="en-GB" b="1" noProof="0" dirty="0">
              <a:solidFill>
                <a:srgbClr val="00963E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22230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36ECD7-E118-F8AD-ADAF-3584EB61F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Operationalization of the typology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B7C9BDE-03E5-024E-8419-7A6EC9A62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en-GB" noProof="0" smtClean="0"/>
              <a:t>6</a:t>
            </a:fld>
            <a:endParaRPr lang="en-GB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40B747F-7C7F-499F-9211-7EEAF416FE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8789" y="1521881"/>
            <a:ext cx="9712011" cy="4656138"/>
          </a:xfrm>
        </p:spPr>
        <p:txBody>
          <a:bodyPr/>
          <a:lstStyle/>
          <a:p>
            <a:endParaRPr lang="en-GB" i="1" noProof="0" dirty="0"/>
          </a:p>
          <a:p>
            <a:r>
              <a:rPr lang="en-GB" i="1" noProof="0" dirty="0"/>
              <a:t>“On average, Germans with a low income live 6 years shorter than Germans with a high income. What do you think is the main reason for this shorter lifespan?”</a:t>
            </a:r>
          </a:p>
          <a:p>
            <a:endParaRPr lang="en-GB" noProof="0" dirty="0"/>
          </a:p>
          <a:p>
            <a:r>
              <a:rPr lang="en-GB" noProof="0" dirty="0"/>
              <a:t>1 = “Because their own behaviour damages their health.”</a:t>
            </a:r>
          </a:p>
          <a:p>
            <a:r>
              <a:rPr lang="en-GB" noProof="0" dirty="0"/>
              <a:t>2 = “Because of inborn characteristics.”</a:t>
            </a:r>
          </a:p>
          <a:p>
            <a:r>
              <a:rPr lang="en-GB" noProof="0" dirty="0"/>
              <a:t>3 = “Because of the environmental conditions they are exposed to at work or where they live.”</a:t>
            </a:r>
          </a:p>
          <a:p>
            <a:r>
              <a:rPr lang="en-GB" noProof="0" dirty="0"/>
              <a:t>4 = “Because of unequal treatment in the healthcare system.”</a:t>
            </a:r>
          </a:p>
          <a:p>
            <a:endParaRPr lang="en-GB" noProof="0" dirty="0"/>
          </a:p>
          <a:p>
            <a:r>
              <a:rPr lang="en-GB" sz="1600" noProof="0" dirty="0"/>
              <a:t>(randomized order)</a:t>
            </a:r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795220A1-8A5D-EAD1-024D-3EDECF454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3550" y="6417721"/>
            <a:ext cx="4176713" cy="216000"/>
          </a:xfrm>
        </p:spPr>
        <p:txBody>
          <a:bodyPr/>
          <a:lstStyle/>
          <a:p>
            <a:r>
              <a:rPr lang="en-GB" noProof="0" dirty="0"/>
              <a:t>Baute (2025)</a:t>
            </a:r>
          </a:p>
        </p:txBody>
      </p:sp>
    </p:spTree>
    <p:extLst>
      <p:ext uri="{BB962C8B-B14F-4D97-AF65-F5344CB8AC3E}">
        <p14:creationId xmlns:p14="http://schemas.microsoft.com/office/powerpoint/2010/main" val="3773928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50142-F038-2A01-A782-3B2897FA7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F267B5-3845-8D65-F71D-B38367DCF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Results: Popular explanations of health inequalities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06F0F84-25E5-5F8A-3B1E-FBEC4911C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en-GB" noProof="0" smtClean="0"/>
              <a:t>7</a:t>
            </a:fld>
            <a:endParaRPr lang="en-GB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D11A91F0-C3A1-43D5-A544-E0C6D348C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3550" y="6417721"/>
            <a:ext cx="4176713" cy="216000"/>
          </a:xfrm>
        </p:spPr>
        <p:txBody>
          <a:bodyPr/>
          <a:lstStyle/>
          <a:p>
            <a:r>
              <a:rPr lang="en-GB" noProof="0" dirty="0"/>
              <a:t>Baute (2025)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72A9779-7053-7E0E-A7E1-29999EEB3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057" y="2244241"/>
            <a:ext cx="5653852" cy="356758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DAD2F146-A91E-B674-A643-5E5F54E7BDC7}"/>
              </a:ext>
            </a:extLst>
          </p:cNvPr>
          <p:cNvSpPr txBox="1"/>
          <p:nvPr/>
        </p:nvSpPr>
        <p:spPr>
          <a:xfrm>
            <a:off x="3876676" y="1473510"/>
            <a:ext cx="1171574" cy="23038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7000"/>
              </a:lnSpc>
            </a:pPr>
            <a:r>
              <a:rPr lang="en-GB" sz="1400" noProof="0" dirty="0">
                <a:solidFill>
                  <a:srgbClr val="000000"/>
                </a:solidFill>
              </a:rPr>
              <a:t>Higher income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28BC936-C093-07A5-47A9-1C26FF380A32}"/>
              </a:ext>
            </a:extLst>
          </p:cNvPr>
          <p:cNvSpPr txBox="1"/>
          <p:nvPr/>
        </p:nvSpPr>
        <p:spPr>
          <a:xfrm>
            <a:off x="5362577" y="1473510"/>
            <a:ext cx="1476373" cy="23038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7000"/>
              </a:lnSpc>
            </a:pPr>
            <a:r>
              <a:rPr lang="en-GB" sz="1400" noProof="0" dirty="0">
                <a:solidFill>
                  <a:srgbClr val="000000"/>
                </a:solidFill>
              </a:rPr>
              <a:t>Right-wing ideology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A3248CA3-9E60-6D73-7EB9-269C878D2853}"/>
              </a:ext>
            </a:extLst>
          </p:cNvPr>
          <p:cNvCxnSpPr>
            <a:stCxn id="8" idx="2"/>
          </p:cNvCxnSpPr>
          <p:nvPr/>
        </p:nvCxnSpPr>
        <p:spPr>
          <a:xfrm flipH="1">
            <a:off x="3676650" y="1703894"/>
            <a:ext cx="785813" cy="705186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BCD46C1C-16BF-2198-4704-4726FABAD208}"/>
              </a:ext>
            </a:extLst>
          </p:cNvPr>
          <p:cNvCxnSpPr>
            <a:stCxn id="9" idx="2"/>
          </p:cNvCxnSpPr>
          <p:nvPr/>
        </p:nvCxnSpPr>
        <p:spPr>
          <a:xfrm flipH="1">
            <a:off x="3800475" y="1703894"/>
            <a:ext cx="2300289" cy="695661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B78D670F-4504-DF4C-4F24-58B76EF89756}"/>
              </a:ext>
            </a:extLst>
          </p:cNvPr>
          <p:cNvSpPr txBox="1"/>
          <p:nvPr/>
        </p:nvSpPr>
        <p:spPr>
          <a:xfrm>
            <a:off x="4852990" y="1805242"/>
            <a:ext cx="233362" cy="2961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7000"/>
              </a:lnSpc>
            </a:pPr>
            <a:r>
              <a:rPr lang="en-GB" b="1" noProof="0" dirty="0">
                <a:solidFill>
                  <a:srgbClr val="000000"/>
                </a:solidFill>
                <a:latin typeface="+mj-lt"/>
              </a:rPr>
              <a:t>+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40163AA-B973-379A-5535-8174A0F79245}"/>
              </a:ext>
            </a:extLst>
          </p:cNvPr>
          <p:cNvSpPr txBox="1"/>
          <p:nvPr/>
        </p:nvSpPr>
        <p:spPr>
          <a:xfrm>
            <a:off x="3952875" y="1805461"/>
            <a:ext cx="233362" cy="2961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7000"/>
              </a:lnSpc>
            </a:pPr>
            <a:r>
              <a:rPr lang="en-GB" b="1" noProof="0" dirty="0">
                <a:solidFill>
                  <a:srgbClr val="000000"/>
                </a:solidFill>
                <a:latin typeface="+mj-lt"/>
              </a:rPr>
              <a:t>+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B9A0495-8194-6595-2BE6-1E8A71DDF539}"/>
              </a:ext>
            </a:extLst>
          </p:cNvPr>
          <p:cNvSpPr txBox="1"/>
          <p:nvPr/>
        </p:nvSpPr>
        <p:spPr>
          <a:xfrm>
            <a:off x="685801" y="3313808"/>
            <a:ext cx="1171574" cy="23038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7000"/>
              </a:lnSpc>
            </a:pPr>
            <a:r>
              <a:rPr lang="en-GB" sz="1400" noProof="0" dirty="0">
                <a:solidFill>
                  <a:srgbClr val="000000"/>
                </a:solidFill>
              </a:rPr>
              <a:t>Lower income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ECAE627A-E0F5-EA6E-08EB-85795ADED1C5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1271588" y="3544192"/>
            <a:ext cx="1928812" cy="389633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96B07262-6493-4B93-2CCE-34EE2506B172}"/>
              </a:ext>
            </a:extLst>
          </p:cNvPr>
          <p:cNvSpPr txBox="1"/>
          <p:nvPr/>
        </p:nvSpPr>
        <p:spPr>
          <a:xfrm>
            <a:off x="2119313" y="3481640"/>
            <a:ext cx="233362" cy="2961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7000"/>
              </a:lnSpc>
            </a:pPr>
            <a:r>
              <a:rPr lang="en-GB" b="1" noProof="0" dirty="0">
                <a:solidFill>
                  <a:srgbClr val="000000"/>
                </a:solidFill>
                <a:latin typeface="+mj-lt"/>
              </a:rPr>
              <a:t>+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2EB6AB9D-1696-6670-34D6-8FFF34C46691}"/>
              </a:ext>
            </a:extLst>
          </p:cNvPr>
          <p:cNvSpPr txBox="1"/>
          <p:nvPr/>
        </p:nvSpPr>
        <p:spPr>
          <a:xfrm>
            <a:off x="950943" y="2486089"/>
            <a:ext cx="1476373" cy="23038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7000"/>
              </a:lnSpc>
            </a:pPr>
            <a:r>
              <a:rPr lang="en-GB" sz="1400" noProof="0" dirty="0">
                <a:solidFill>
                  <a:srgbClr val="000000"/>
                </a:solidFill>
              </a:rPr>
              <a:t>Left-wing ideology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3B2DEB53-F672-7F44-5F19-32EA57BCA1FE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1689130" y="2716473"/>
            <a:ext cx="1248568" cy="712527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C94DEFC7-BA5D-93E1-514B-8B083B205B26}"/>
              </a:ext>
            </a:extLst>
          </p:cNvPr>
          <p:cNvSpPr txBox="1"/>
          <p:nvPr/>
        </p:nvSpPr>
        <p:spPr>
          <a:xfrm>
            <a:off x="2295144" y="2798771"/>
            <a:ext cx="233362" cy="2961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7000"/>
              </a:lnSpc>
            </a:pPr>
            <a:r>
              <a:rPr lang="en-GB" b="1" noProof="0" dirty="0">
                <a:solidFill>
                  <a:srgbClr val="000000"/>
                </a:solidFill>
                <a:latin typeface="+mj-lt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852054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FFE63A-B43C-BDD6-76CF-792701120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Consequences (1): </a:t>
            </a:r>
            <a:r>
              <a:rPr lang="en-GB" noProof="0" dirty="0">
                <a:sym typeface="Wingdings" panose="05000000000000000000" pitchFamily="2" charset="2"/>
              </a:rPr>
              <a:t>healthcare solidarity</a:t>
            </a:r>
            <a:endParaRPr lang="en-GB" noProof="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4940C01-76B3-5B8E-7F06-A93FCFBE3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en-GB" noProof="0" smtClean="0"/>
              <a:t>8</a:t>
            </a:fld>
            <a:endParaRPr lang="en-GB" noProof="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F047E1F-8F5F-33EB-29E2-C0E9CB2FF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06" y="2078288"/>
            <a:ext cx="8230313" cy="167456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617D740-9E02-3B7D-66C2-4F40B069E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3006" y="2646021"/>
            <a:ext cx="1295512" cy="556308"/>
          </a:xfrm>
          <a:prstGeom prst="rect">
            <a:avLst/>
          </a:prstGeom>
        </p:spPr>
      </p:pic>
      <p:sp>
        <p:nvSpPr>
          <p:cNvPr id="9" name="Fußzeilenplatzhalter 5">
            <a:extLst>
              <a:ext uri="{FF2B5EF4-FFF2-40B4-BE49-F238E27FC236}">
                <a16:creationId xmlns:a16="http://schemas.microsoft.com/office/drawing/2014/main" id="{753D9315-5502-567D-5F54-AEAF076B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3550" y="6417721"/>
            <a:ext cx="4176713" cy="216000"/>
          </a:xfrm>
        </p:spPr>
        <p:txBody>
          <a:bodyPr/>
          <a:lstStyle/>
          <a:p>
            <a:r>
              <a:rPr lang="en-GB" noProof="0" dirty="0"/>
              <a:t>Baute (2025)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B367292-878A-0344-E3B8-5932A32D1A4A}"/>
              </a:ext>
            </a:extLst>
          </p:cNvPr>
          <p:cNvSpPr txBox="1"/>
          <p:nvPr/>
        </p:nvSpPr>
        <p:spPr>
          <a:xfrm>
            <a:off x="1171575" y="4553940"/>
            <a:ext cx="10239375" cy="6201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7000"/>
              </a:lnSpc>
            </a:pPr>
            <a:r>
              <a:rPr lang="en-GB" b="1" noProof="0" dirty="0">
                <a:solidFill>
                  <a:srgbClr val="000000"/>
                </a:solidFill>
                <a:latin typeface="+mj-lt"/>
              </a:rPr>
              <a:t>Assumption:</a:t>
            </a:r>
          </a:p>
          <a:p>
            <a:pPr algn="l">
              <a:lnSpc>
                <a:spcPct val="117000"/>
              </a:lnSpc>
            </a:pPr>
            <a:r>
              <a:rPr lang="en-GB" noProof="0" dirty="0">
                <a:solidFill>
                  <a:srgbClr val="000000"/>
                </a:solidFill>
              </a:rPr>
              <a:t>Health inequality attribution </a:t>
            </a:r>
            <a:r>
              <a:rPr lang="en-GB" noProof="0" dirty="0">
                <a:solidFill>
                  <a:srgbClr val="000000"/>
                </a:solidFill>
                <a:sym typeface="Wingdings" panose="05000000000000000000" pitchFamily="2" charset="2"/>
              </a:rPr>
              <a:t> </a:t>
            </a:r>
            <a:r>
              <a:rPr lang="en-GB" i="1" noProof="0" dirty="0">
                <a:solidFill>
                  <a:srgbClr val="000000"/>
                </a:solidFill>
                <a:sym typeface="Wingdings" panose="05000000000000000000" pitchFamily="2" charset="2"/>
              </a:rPr>
              <a:t>degree of risk controllability </a:t>
            </a:r>
            <a:r>
              <a:rPr lang="en-GB" noProof="0" dirty="0">
                <a:solidFill>
                  <a:srgbClr val="000000"/>
                </a:solidFill>
                <a:sym typeface="Wingdings" panose="05000000000000000000" pitchFamily="2" charset="2"/>
              </a:rPr>
              <a:t> health policy attitudes</a:t>
            </a:r>
            <a:endParaRPr lang="en-GB" noProof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3356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450732-7D08-36C7-4663-EE56F82BC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80" y="654261"/>
            <a:ext cx="10443711" cy="375642"/>
          </a:xfrm>
        </p:spPr>
        <p:txBody>
          <a:bodyPr/>
          <a:lstStyle/>
          <a:p>
            <a:r>
              <a:rPr lang="en-GB" noProof="0" dirty="0"/>
              <a:t>Consequences (2): </a:t>
            </a:r>
            <a:r>
              <a:rPr lang="en-GB" noProof="0" dirty="0">
                <a:sym typeface="Wingdings" panose="05000000000000000000" pitchFamily="2" charset="2"/>
              </a:rPr>
              <a:t>(un)Fairness of health inequality</a:t>
            </a:r>
            <a:endParaRPr lang="en-GB" noProof="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A1B0811-0CF7-6E44-5497-96636AD13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en-GB" noProof="0" smtClean="0"/>
              <a:t>9</a:t>
            </a:fld>
            <a:endParaRPr lang="en-GB" noProof="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F198F1B-EB36-856D-D490-887C50091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100" y="1694735"/>
            <a:ext cx="5274984" cy="3896835"/>
          </a:xfrm>
          <a:prstGeom prst="rect">
            <a:avLst/>
          </a:prstGeom>
        </p:spPr>
      </p:pic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A5923AE-0AE9-D051-662C-0CD153DC0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Lynch &amp; </a:t>
            </a:r>
            <a:r>
              <a:rPr lang="en-GB" noProof="0" dirty="0" err="1"/>
              <a:t>Gollust</a:t>
            </a:r>
            <a:r>
              <a:rPr lang="en-GB" noProof="0" dirty="0"/>
              <a:t> 2010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E933167-F80F-13EB-0BEC-CDD2EBF24E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81" y="2293711"/>
            <a:ext cx="4186520" cy="2722789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F3C894AD-0BEC-7C9E-D775-F5AD1EDDFC72}"/>
              </a:ext>
            </a:extLst>
          </p:cNvPr>
          <p:cNvSpPr txBox="1"/>
          <p:nvPr/>
        </p:nvSpPr>
        <p:spPr>
          <a:xfrm>
            <a:off x="164281" y="1591963"/>
            <a:ext cx="5473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noProof="0" dirty="0"/>
              <a:t>Representative US survey, 2007 (N=1317)</a:t>
            </a:r>
          </a:p>
        </p:txBody>
      </p:sp>
    </p:spTree>
    <p:extLst>
      <p:ext uri="{BB962C8B-B14F-4D97-AF65-F5344CB8AC3E}">
        <p14:creationId xmlns:p14="http://schemas.microsoft.com/office/powerpoint/2010/main" val="3173787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C1E442-EAC1-0168-A357-FA031A1D9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Generalizability – ISSP Items on causes of health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0C9521D-B9C8-5D38-2017-E2A0071F0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en-GB" noProof="0" smtClean="0"/>
              <a:t>10</a:t>
            </a:fld>
            <a:endParaRPr lang="en-GB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2477F2D-8F7E-1DE6-145D-18BA18637B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8790" y="1521881"/>
            <a:ext cx="5692460" cy="4656138"/>
          </a:xfrm>
        </p:spPr>
        <p:txBody>
          <a:bodyPr/>
          <a:lstStyle/>
          <a:p>
            <a:endParaRPr lang="en-GB" sz="800" noProof="0" dirty="0"/>
          </a:p>
          <a:p>
            <a:r>
              <a:rPr lang="en-GB" noProof="0" dirty="0"/>
              <a:t>Schnittker (2015) and Bridger (2023) use the </a:t>
            </a:r>
            <a:r>
              <a:rPr lang="en-GB" b="1" noProof="0" dirty="0">
                <a:latin typeface="+mj-lt"/>
              </a:rPr>
              <a:t>ISSP 2011 </a:t>
            </a:r>
            <a:r>
              <a:rPr lang="en-GB" noProof="0" dirty="0"/>
              <a:t>to analyse health causation beliefs</a:t>
            </a:r>
          </a:p>
          <a:p>
            <a:endParaRPr lang="en-GB" noProof="0" dirty="0"/>
          </a:p>
          <a:p>
            <a:r>
              <a:rPr lang="en-GB" i="1" noProof="0" dirty="0"/>
              <a:t>“Severe health problems may have many causes. How much do you agree or disagree with the following statements? People suffer from severe health problems,</a:t>
            </a:r>
          </a:p>
          <a:p>
            <a:pPr marL="400050" indent="-400050">
              <a:buAutoNum type="romanLcParenBoth"/>
            </a:pPr>
            <a:r>
              <a:rPr lang="en-GB" i="1" noProof="0" dirty="0"/>
              <a:t>because they behaved in ways that damaged their health,</a:t>
            </a:r>
          </a:p>
          <a:p>
            <a:pPr marL="400050" indent="-400050">
              <a:buAutoNum type="romanLcParenBoth"/>
            </a:pPr>
            <a:r>
              <a:rPr lang="en-GB" i="1" noProof="0" dirty="0"/>
              <a:t>because of the environment they are exposed to at work or where they live,</a:t>
            </a:r>
          </a:p>
          <a:p>
            <a:pPr marL="400050" indent="-400050">
              <a:buAutoNum type="romanLcParenBoth"/>
            </a:pPr>
            <a:r>
              <a:rPr lang="en-GB" i="1" noProof="0" dirty="0"/>
              <a:t>because of their genes,</a:t>
            </a:r>
          </a:p>
          <a:p>
            <a:pPr marL="400050" indent="-400050">
              <a:buAutoNum type="romanLcParenBoth"/>
            </a:pPr>
            <a:r>
              <a:rPr lang="en-GB" i="1" noProof="0" dirty="0"/>
              <a:t>because they are poor.”</a:t>
            </a:r>
          </a:p>
          <a:p>
            <a:endParaRPr lang="en-GB" noProof="0" dirty="0"/>
          </a:p>
          <a:p>
            <a:r>
              <a:rPr lang="en-GB" sz="1600" noProof="0" dirty="0"/>
              <a:t>(5-point Likert scale from “strongly agree” to “strongly disagree”)</a:t>
            </a:r>
          </a:p>
        </p:txBody>
      </p:sp>
      <p:sp>
        <p:nvSpPr>
          <p:cNvPr id="7" name="Fußzeilenplatzhalter 5">
            <a:extLst>
              <a:ext uri="{FF2B5EF4-FFF2-40B4-BE49-F238E27FC236}">
                <a16:creationId xmlns:a16="http://schemas.microsoft.com/office/drawing/2014/main" id="{22B98FEB-451B-71AB-CB4A-146E929E0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53376" y="5447669"/>
            <a:ext cx="2379134" cy="360728"/>
          </a:xfrm>
        </p:spPr>
        <p:txBody>
          <a:bodyPr/>
          <a:lstStyle/>
          <a:p>
            <a:r>
              <a:rPr lang="en-GB" noProof="0" dirty="0"/>
              <a:t>Average across all countries (own graph based on Schnittker 2015: Table 1)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08EFD625-03E0-D871-149E-0BDDF1EE7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014" y="2795693"/>
            <a:ext cx="4448211" cy="249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284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961B63-9793-B14D-2454-54D28563B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Cross-country variation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15D1E8D-6D7C-702C-35E6-E462D39B4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en-GB" noProof="0" smtClean="0"/>
              <a:t>11</a:t>
            </a:fld>
            <a:endParaRPr lang="en-GB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18BA1B9-1A55-40AE-D62F-4498FF7D02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8789" y="1521881"/>
            <a:ext cx="10083486" cy="5003840"/>
          </a:xfrm>
        </p:spPr>
        <p:txBody>
          <a:bodyPr/>
          <a:lstStyle/>
          <a:p>
            <a:endParaRPr lang="en-GB" b="1" noProof="0" dirty="0">
              <a:latin typeface="+mj-lt"/>
            </a:endParaRPr>
          </a:p>
          <a:p>
            <a:r>
              <a:rPr lang="en-GB" b="1" noProof="0" dirty="0">
                <a:latin typeface="+mj-lt"/>
              </a:rPr>
              <a:t>Aim: Analyse how health causation beliefs vary across countries</a:t>
            </a:r>
          </a:p>
          <a:p>
            <a:endParaRPr lang="en-GB" noProof="0" dirty="0"/>
          </a:p>
          <a:p>
            <a:r>
              <a:rPr lang="en-GB" b="1" noProof="0" dirty="0">
                <a:latin typeface="+mj-lt"/>
              </a:rPr>
              <a:t>Task (10-15 min, individually or in small groups):</a:t>
            </a:r>
          </a:p>
          <a:p>
            <a:pPr lvl="1"/>
            <a:r>
              <a:rPr lang="en-GB" noProof="0" dirty="0"/>
              <a:t>Study the distribution of health causation beliefs across countries on the next three slides</a:t>
            </a:r>
          </a:p>
          <a:p>
            <a:pPr lvl="3"/>
            <a:r>
              <a:rPr lang="en-GB" noProof="0" dirty="0"/>
              <a:t>ISSP 2011</a:t>
            </a:r>
          </a:p>
          <a:p>
            <a:pPr lvl="3"/>
            <a:r>
              <a:rPr lang="en-GB" noProof="0" dirty="0"/>
              <a:t>ISSP 2021</a:t>
            </a:r>
          </a:p>
          <a:p>
            <a:pPr lvl="3"/>
            <a:r>
              <a:rPr lang="en-GB" noProof="0" dirty="0"/>
              <a:t>Change 2011 to 2021</a:t>
            </a:r>
          </a:p>
          <a:p>
            <a:pPr marL="252000" lvl="3" indent="0">
              <a:buNone/>
            </a:pPr>
            <a:r>
              <a:rPr lang="en-GB" i="1" noProof="0" dirty="0"/>
              <a:t>(Stata code for the graphs available on Moodle)</a:t>
            </a:r>
          </a:p>
          <a:p>
            <a:pPr lvl="1"/>
            <a:r>
              <a:rPr lang="en-GB" noProof="0" dirty="0"/>
              <a:t>Analyse and evaluate the patterns:</a:t>
            </a:r>
          </a:p>
          <a:p>
            <a:pPr marL="501750" lvl="1" indent="-285750">
              <a:buFont typeface="Wingdings" panose="05000000000000000000" pitchFamily="2" charset="2"/>
              <a:buChar char="§"/>
            </a:pPr>
            <a:r>
              <a:rPr lang="en-GB" noProof="0" dirty="0"/>
              <a:t>Are health causation beliefs similar across countries or do they differ?</a:t>
            </a:r>
          </a:p>
          <a:p>
            <a:pPr marL="501750" lvl="1" indent="-285750">
              <a:buFont typeface="Wingdings" panose="05000000000000000000" pitchFamily="2" charset="2"/>
              <a:buChar char="§"/>
            </a:pPr>
            <a:r>
              <a:rPr lang="en-GB" noProof="0" dirty="0"/>
              <a:t>Which countries put more emphasis on behaviour/genes, with potentially lower support for policies to address health inequalities?</a:t>
            </a:r>
          </a:p>
          <a:p>
            <a:pPr marL="501750" lvl="1" indent="-285750">
              <a:buFont typeface="Wingdings" panose="05000000000000000000" pitchFamily="2" charset="2"/>
              <a:buChar char="§"/>
            </a:pPr>
            <a:r>
              <a:rPr lang="en-GB" noProof="0" dirty="0"/>
              <a:t>Which countries put more emphasis on environment/poverty, with potentially higher support for policies to address health inequalities?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534706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AEAFA9E-20A5-8D5A-A35B-237F8BEEF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en-GB" noProof="0" smtClean="0"/>
              <a:t>12</a:t>
            </a:fld>
            <a:endParaRPr lang="en-GB" noProof="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8397EFD-8779-226A-57CB-1DC7FAD53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378472"/>
            <a:ext cx="10080000" cy="604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300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E23A9FF-36DF-A023-11D7-4C3964B85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en-GB" noProof="0" smtClean="0"/>
              <a:t>13</a:t>
            </a:fld>
            <a:endParaRPr lang="en-GB" noProof="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259A866-F908-4D36-9797-6ED628A4E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360000"/>
            <a:ext cx="10080000" cy="604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360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5116919-2779-00C7-E468-7078E72C0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en-GB" noProof="0" smtClean="0"/>
              <a:t>14</a:t>
            </a:fld>
            <a:endParaRPr lang="en-GB" noProof="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30CF4D7-ECB7-E27D-77A0-32B1293A3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360000"/>
            <a:ext cx="10080000" cy="604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457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0CEEFC-7CB7-429B-1EA0-EC6EBE494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Summing up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4B01863-09E1-4A84-F0AC-006B82C06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en-GB" noProof="0" smtClean="0"/>
              <a:t>15</a:t>
            </a:fld>
            <a:endParaRPr lang="en-GB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33512A8-02DB-5058-D159-F887C232EB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noProof="0" dirty="0"/>
          </a:p>
          <a:p>
            <a:endParaRPr lang="en-GB" noProof="0" dirty="0"/>
          </a:p>
          <a:p>
            <a:r>
              <a:rPr lang="en-GB" noProof="0" dirty="0"/>
              <a:t>From scientific theories explaining what drives health inequalities (behavioural, materialist, psychosocial) to </a:t>
            </a:r>
            <a:r>
              <a:rPr lang="en-GB" b="1" i="1" noProof="0" dirty="0">
                <a:latin typeface="+mj-lt"/>
              </a:rPr>
              <a:t>subjective</a:t>
            </a:r>
            <a:r>
              <a:rPr lang="en-GB" b="1" noProof="0" dirty="0">
                <a:latin typeface="+mj-lt"/>
              </a:rPr>
              <a:t> attributions of health inequalities </a:t>
            </a:r>
            <a:r>
              <a:rPr lang="en-GB" noProof="0" dirty="0"/>
              <a:t>and causes of health (behavioural, biological, environmental, healthcare)</a:t>
            </a:r>
          </a:p>
          <a:p>
            <a:endParaRPr lang="en-GB" noProof="0" dirty="0"/>
          </a:p>
          <a:p>
            <a:r>
              <a:rPr lang="en-GB" noProof="0" dirty="0"/>
              <a:t>Attributions/beliefs of health causes are </a:t>
            </a:r>
            <a:r>
              <a:rPr lang="en-GB" b="1" noProof="0" dirty="0">
                <a:latin typeface="+mj-lt"/>
              </a:rPr>
              <a:t>not equally distributed </a:t>
            </a:r>
            <a:r>
              <a:rPr lang="en-GB" noProof="0" dirty="0"/>
              <a:t>across time, across countries, or across individuals (e.g. role of income and political ideology)</a:t>
            </a:r>
          </a:p>
          <a:p>
            <a:endParaRPr lang="en-GB" noProof="0" dirty="0"/>
          </a:p>
          <a:p>
            <a:r>
              <a:rPr lang="en-GB" noProof="0" dirty="0"/>
              <a:t>Beliefs matter: attributions </a:t>
            </a:r>
            <a:r>
              <a:rPr lang="en-GB" b="1" noProof="0" dirty="0">
                <a:latin typeface="+mj-lt"/>
              </a:rPr>
              <a:t>shape support for healthcare solidarity and health inequality reduction</a:t>
            </a:r>
            <a:r>
              <a:rPr lang="en-GB" noProof="0" dirty="0"/>
              <a:t>:</a:t>
            </a:r>
          </a:p>
          <a:p>
            <a:r>
              <a:rPr lang="en-GB" noProof="0" dirty="0"/>
              <a:t>behavioural blame weakens it, structural explanations strengthen it</a:t>
            </a:r>
          </a:p>
        </p:txBody>
      </p:sp>
    </p:spTree>
    <p:extLst>
      <p:ext uri="{BB962C8B-B14F-4D97-AF65-F5344CB8AC3E}">
        <p14:creationId xmlns:p14="http://schemas.microsoft.com/office/powerpoint/2010/main" val="1794869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FDA27C-E6C9-2093-2F97-2822EE729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From Topic to research question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585B76E-E92E-403B-9637-E504D0C0A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en-GB" noProof="0" smtClean="0"/>
              <a:t>16</a:t>
            </a:fld>
            <a:endParaRPr lang="en-GB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373FCD6-6A18-66E4-8DCE-FBA4CD8AF3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25958" y="1540565"/>
            <a:ext cx="6599582" cy="4895871"/>
          </a:xfrm>
        </p:spPr>
        <p:txBody>
          <a:bodyPr/>
          <a:lstStyle/>
          <a:p>
            <a:r>
              <a:rPr lang="en-GB" b="1" noProof="0" dirty="0">
                <a:latin typeface="+mj-lt"/>
              </a:rPr>
              <a:t>Example:</a:t>
            </a:r>
          </a:p>
          <a:p>
            <a:endParaRPr lang="en-GB" b="1" noProof="0" dirty="0"/>
          </a:p>
          <a:p>
            <a:pPr>
              <a:spcBef>
                <a:spcPts val="600"/>
              </a:spcBef>
            </a:pPr>
            <a:r>
              <a:rPr lang="en-GB" b="1" noProof="0" dirty="0"/>
              <a:t>Broad topic:</a:t>
            </a:r>
            <a:r>
              <a:rPr lang="en-GB" noProof="0" dirty="0"/>
              <a:t> Health inequality</a:t>
            </a:r>
          </a:p>
          <a:p>
            <a:pPr>
              <a:spcBef>
                <a:spcPts val="600"/>
              </a:spcBef>
            </a:pPr>
            <a:r>
              <a:rPr lang="en-GB" b="1" noProof="0" dirty="0"/>
              <a:t>Narrower focus:</a:t>
            </a:r>
            <a:r>
              <a:rPr lang="en-GB" noProof="0" dirty="0"/>
              <a:t> The impact of socioeconomic status on self-rated health</a:t>
            </a:r>
          </a:p>
          <a:p>
            <a:pPr>
              <a:spcBef>
                <a:spcPts val="600"/>
              </a:spcBef>
            </a:pPr>
            <a:r>
              <a:rPr lang="en-GB" b="1" noProof="0" dirty="0"/>
              <a:t>More specific focus:</a:t>
            </a:r>
            <a:r>
              <a:rPr lang="en-GB" noProof="0" dirty="0"/>
              <a:t> The role of relative deprivation in the link between income and self-rated health</a:t>
            </a:r>
          </a:p>
          <a:p>
            <a:pPr>
              <a:spcBef>
                <a:spcPts val="600"/>
              </a:spcBef>
            </a:pPr>
            <a:r>
              <a:rPr lang="en-GB" b="1" noProof="0" dirty="0"/>
              <a:t>Research question:</a:t>
            </a:r>
            <a:r>
              <a:rPr lang="en-GB" noProof="0" dirty="0"/>
              <a:t> How does household income influence self-rated health among adults through feelings of relative deprivation?</a:t>
            </a:r>
          </a:p>
          <a:p>
            <a:pPr>
              <a:spcBef>
                <a:spcPts val="600"/>
              </a:spcBef>
            </a:pPr>
            <a:r>
              <a:rPr lang="en-GB" noProof="0" dirty="0"/>
              <a:t>Or:</a:t>
            </a:r>
            <a:br>
              <a:rPr lang="en-GB" noProof="0" dirty="0"/>
            </a:br>
            <a:r>
              <a:rPr lang="en-GB" b="1" noProof="0" dirty="0"/>
              <a:t>Research question:</a:t>
            </a:r>
            <a:r>
              <a:rPr lang="en-GB" noProof="0" dirty="0"/>
              <a:t> To what extent do feelings of relative deprivation explain the relationship between household income and self-rated health in adults?</a:t>
            </a:r>
          </a:p>
          <a:p>
            <a:endParaRPr lang="en-GB" noProof="0" dirty="0"/>
          </a:p>
        </p:txBody>
      </p:sp>
      <p:pic>
        <p:nvPicPr>
          <p:cNvPr id="1026" name="Picture 2" descr="Developing Your Research Question – Writing Place">
            <a:extLst>
              <a:ext uri="{FF2B5EF4-FFF2-40B4-BE49-F238E27FC236}">
                <a16:creationId xmlns:a16="http://schemas.microsoft.com/office/drawing/2014/main" id="{AB745640-692A-4F50-1D9D-0F40C8404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14" y="2487475"/>
            <a:ext cx="3170790" cy="2669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3783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E47155-854A-3031-041E-BA9C8A7FE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What is a good research question? 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AE78BEC-6EDC-01A0-8C41-870E3CA5C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en-GB" noProof="0" smtClean="0"/>
              <a:t>17</a:t>
            </a:fld>
            <a:endParaRPr lang="en-GB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E247037-98EF-1059-BAA0-58A5FD091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endParaRPr lang="en-GB" sz="1000" b="1" noProof="0" dirty="0">
              <a:latin typeface="+mj-lt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3200" b="1" noProof="0" dirty="0">
                <a:latin typeface="+mj-lt"/>
              </a:rPr>
              <a:t>CARS…</a:t>
            </a:r>
            <a:endParaRPr lang="en-GB" sz="2400" b="1" noProof="0" dirty="0">
              <a:latin typeface="+mj-lt"/>
            </a:endParaRPr>
          </a:p>
          <a:p>
            <a:pPr>
              <a:spcBef>
                <a:spcPts val="1200"/>
              </a:spcBef>
            </a:pPr>
            <a:r>
              <a:rPr lang="en-GB" sz="2000" b="1" u="sng" noProof="0" dirty="0">
                <a:latin typeface="+mj-lt"/>
              </a:rPr>
              <a:t>C</a:t>
            </a:r>
            <a:r>
              <a:rPr lang="en-GB" sz="2000" b="1" noProof="0" dirty="0">
                <a:latin typeface="+mj-lt"/>
              </a:rPr>
              <a:t>lear</a:t>
            </a:r>
            <a:r>
              <a:rPr lang="en-GB" sz="2000" noProof="0" dirty="0"/>
              <a:t>: </a:t>
            </a:r>
            <a:r>
              <a:rPr lang="en-GB" noProof="0" dirty="0"/>
              <a:t>Your audience should be able to understand the question easily ✅</a:t>
            </a:r>
          </a:p>
          <a:p>
            <a:pPr>
              <a:spcBef>
                <a:spcPts val="1200"/>
              </a:spcBef>
            </a:pPr>
            <a:r>
              <a:rPr lang="en-GB" sz="2000" b="1" u="sng" noProof="0" dirty="0">
                <a:latin typeface="+mj-lt"/>
              </a:rPr>
              <a:t>A</a:t>
            </a:r>
            <a:r>
              <a:rPr lang="en-GB" sz="2000" b="1" noProof="0" dirty="0">
                <a:latin typeface="+mj-lt"/>
              </a:rPr>
              <a:t>nswerable</a:t>
            </a:r>
            <a:r>
              <a:rPr lang="en-GB" sz="2000" noProof="0" dirty="0"/>
              <a:t>: </a:t>
            </a:r>
            <a:r>
              <a:rPr lang="en-GB" noProof="0" dirty="0"/>
              <a:t>It should be possible </a:t>
            </a:r>
            <a:r>
              <a:rPr lang="en-GB" u="sng" noProof="0" dirty="0"/>
              <a:t>and</a:t>
            </a:r>
            <a:r>
              <a:rPr lang="en-GB" noProof="0" dirty="0"/>
              <a:t> feasible to give a methodologically rigorous answer to the question using the empirical data at hand ✅</a:t>
            </a:r>
          </a:p>
          <a:p>
            <a:pPr>
              <a:spcBef>
                <a:spcPts val="1200"/>
              </a:spcBef>
            </a:pPr>
            <a:r>
              <a:rPr lang="en-GB" sz="2000" b="1" u="sng" noProof="0" dirty="0">
                <a:latin typeface="+mj-lt"/>
              </a:rPr>
              <a:t>R</a:t>
            </a:r>
            <a:r>
              <a:rPr lang="en-GB" sz="2000" b="1" noProof="0" dirty="0">
                <a:latin typeface="+mj-lt"/>
              </a:rPr>
              <a:t>elevant</a:t>
            </a:r>
            <a:r>
              <a:rPr lang="en-GB" sz="2000" noProof="0" dirty="0"/>
              <a:t>: </a:t>
            </a:r>
            <a:r>
              <a:rPr lang="en-GB" noProof="0" dirty="0"/>
              <a:t>The question has (1)</a:t>
            </a:r>
            <a:r>
              <a:rPr lang="en-GB" i="1" noProof="0" dirty="0"/>
              <a:t> </a:t>
            </a:r>
            <a:r>
              <a:rPr lang="en-GB" noProof="0" dirty="0"/>
              <a:t>practical/societal relevance </a:t>
            </a:r>
            <a:r>
              <a:rPr lang="en-GB" u="sng" noProof="0" dirty="0"/>
              <a:t>and</a:t>
            </a:r>
            <a:r>
              <a:rPr lang="en-GB" noProof="0" dirty="0"/>
              <a:t> (2) academic/scientific relevance ✅</a:t>
            </a:r>
          </a:p>
          <a:p>
            <a:pPr>
              <a:spcBef>
                <a:spcPts val="1200"/>
              </a:spcBef>
            </a:pPr>
            <a:r>
              <a:rPr lang="en-GB" sz="2000" b="1" u="sng" noProof="0" dirty="0">
                <a:latin typeface="+mj-lt"/>
              </a:rPr>
              <a:t>S</a:t>
            </a:r>
            <a:r>
              <a:rPr lang="en-GB" sz="2000" b="1" noProof="0" dirty="0">
                <a:latin typeface="+mj-lt"/>
              </a:rPr>
              <a:t>pecific</a:t>
            </a:r>
            <a:r>
              <a:rPr lang="en-GB" sz="2000" noProof="0" dirty="0"/>
              <a:t>: </a:t>
            </a:r>
            <a:r>
              <a:rPr lang="en-GB" noProof="0" dirty="0"/>
              <a:t>The question should be narrow/focused enough to be answered within the scope of the assignment and the available empirical data ✅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29533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F7A8B2-2F99-3B85-A9E3-DF51F273B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Research questions – what to avoid </a:t>
            </a:r>
            <a:r>
              <a:rPr lang="en-GB" b="0" noProof="0" dirty="0"/>
              <a:t>⚠️</a:t>
            </a:r>
            <a:endParaRPr lang="en-GB" noProof="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5E8DA0E-26C5-CDAA-A761-5FBCBD97F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en-GB" noProof="0" smtClean="0"/>
              <a:t>18</a:t>
            </a:fld>
            <a:endParaRPr lang="en-GB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699E4B1-3BF7-BCBF-0740-B1D504CF1D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GB" noProof="0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noProof="0" dirty="0"/>
              <a:t>The question is too broad, too general, not specific enough 🚫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noProof="0" dirty="0"/>
              <a:t>The question is descriptive, not analytical </a:t>
            </a:r>
            <a:r>
              <a:rPr lang="en-GB" sz="1600" noProof="0" dirty="0"/>
              <a:t>(you want to analyse/explain a problem, not just describe it)</a:t>
            </a:r>
            <a:r>
              <a:rPr lang="en-GB" noProof="0" dirty="0"/>
              <a:t> 🚫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noProof="0" dirty="0"/>
              <a:t>The question is not feasible </a:t>
            </a:r>
            <a:r>
              <a:rPr lang="en-GB" sz="1600" noProof="0" dirty="0"/>
              <a:t>(you don’t have the necessary data and methods to answer it) </a:t>
            </a:r>
            <a:r>
              <a:rPr lang="en-GB" noProof="0" dirty="0"/>
              <a:t>🚫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noProof="0" dirty="0"/>
              <a:t>The question lacks academic/scientific relevance 🚫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noProof="0" dirty="0"/>
              <a:t>The question lacks practical/societal relevance 🚫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noProof="0" dirty="0"/>
              <a:t>The question is too easy to answer </a:t>
            </a:r>
            <a:r>
              <a:rPr lang="en-GB" sz="1600" noProof="0" dirty="0"/>
              <a:t>(yes/no, </a:t>
            </a:r>
            <a:r>
              <a:rPr lang="en-GB" sz="1600" noProof="0" dirty="0">
                <a:hlinkClick r:id="rId2"/>
              </a:rPr>
              <a:t>https://letmegooglethat.com/</a:t>
            </a:r>
            <a:r>
              <a:rPr lang="en-GB" sz="1600" noProof="0" dirty="0"/>
              <a:t>)</a:t>
            </a:r>
            <a:r>
              <a:rPr lang="en-GB" noProof="0" dirty="0"/>
              <a:t> 🚫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GB" noProof="0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noProof="0" dirty="0"/>
              <a:t>You don’t enjoy working on the question 🚫</a:t>
            </a:r>
          </a:p>
          <a:p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0AC24E-5A3D-D813-8CBF-3838EDE60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McCauley &amp; Ruggeri (2020)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38857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01B21D-C0B5-30A0-D0CF-93C958FF7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Exercise: Peer feedback on Research questions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F0B918F-0EB1-DA23-59B8-AFBB1AE3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en-GB" noProof="0" smtClean="0"/>
              <a:t>19</a:t>
            </a:fld>
            <a:endParaRPr lang="en-GB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988C250-49B4-113E-DDAB-6E5D35A94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8790" y="1521881"/>
            <a:ext cx="6616385" cy="4656138"/>
          </a:xfrm>
        </p:spPr>
        <p:txBody>
          <a:bodyPr/>
          <a:lstStyle/>
          <a:p>
            <a:endParaRPr lang="en-GB" noProof="0" dirty="0"/>
          </a:p>
          <a:p>
            <a:r>
              <a:rPr lang="en-GB" u="sng" noProof="0" dirty="0"/>
              <a:t>Task 1 (10 min):</a:t>
            </a:r>
          </a:p>
          <a:p>
            <a:r>
              <a:rPr lang="en-GB" noProof="0" dirty="0"/>
              <a:t>(Re-)formulate the topic/research question that you prepared into a </a:t>
            </a:r>
            <a:r>
              <a:rPr lang="en-GB" b="1" noProof="0" dirty="0">
                <a:latin typeface="+mj-lt"/>
              </a:rPr>
              <a:t>CARS research question (clear, answerable, relevant, specific)</a:t>
            </a:r>
            <a:br>
              <a:rPr lang="en-GB" b="1" dirty="0">
                <a:latin typeface="+mj-lt"/>
              </a:rPr>
            </a:br>
            <a:r>
              <a:rPr lang="en-GB" noProof="0" dirty="0">
                <a:sym typeface="Wingdings" panose="05000000000000000000" pitchFamily="2" charset="2"/>
              </a:rPr>
              <a:t> write it down on the paper provided.</a:t>
            </a:r>
            <a:endParaRPr lang="en-GB" noProof="0" dirty="0"/>
          </a:p>
          <a:p>
            <a:endParaRPr lang="en-GB" noProof="0" dirty="0"/>
          </a:p>
          <a:p>
            <a:r>
              <a:rPr lang="en-GB" u="sng" noProof="0" dirty="0"/>
              <a:t>Task 2 (10 min):</a:t>
            </a:r>
          </a:p>
          <a:p>
            <a:r>
              <a:rPr lang="en-GB" noProof="0" dirty="0"/>
              <a:t>Form groups of 2 or 3 students. Exchange the papers with the research questions, and provide </a:t>
            </a:r>
            <a:r>
              <a:rPr lang="en-GB" b="1" noProof="0" dirty="0">
                <a:latin typeface="+mj-lt"/>
              </a:rPr>
              <a:t>written feedback </a:t>
            </a:r>
            <a:r>
              <a:rPr lang="en-GB" noProof="0" dirty="0"/>
              <a:t>on your colleagues’ question: Is it CARS? Suggestions how to reformulate it?</a:t>
            </a:r>
          </a:p>
          <a:p>
            <a:endParaRPr lang="en-GB" noProof="0" dirty="0">
              <a:latin typeface="+mj-lt"/>
            </a:endParaRPr>
          </a:p>
          <a:p>
            <a:r>
              <a:rPr lang="en-GB" u="sng" noProof="0" dirty="0"/>
              <a:t>Task 3 (10 min): </a:t>
            </a:r>
          </a:p>
          <a:p>
            <a:r>
              <a:rPr lang="en-GB" noProof="0" dirty="0"/>
              <a:t>Discuss and explain the </a:t>
            </a:r>
            <a:r>
              <a:rPr lang="en-GB" b="1" noProof="0" dirty="0">
                <a:latin typeface="+mj-lt"/>
              </a:rPr>
              <a:t>feedback in the group</a:t>
            </a:r>
            <a:r>
              <a:rPr lang="en-GB" noProof="0" dirty="0"/>
              <a:t>: What did you like about the research question idea? What did you suggest to change? Discuss clarifying questions and lessons learned.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509DD0E-77BB-1D93-04BF-9F2AF022D1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21"/>
          <a:stretch>
            <a:fillRect/>
          </a:stretch>
        </p:blipFill>
        <p:spPr>
          <a:xfrm>
            <a:off x="7391400" y="1118867"/>
            <a:ext cx="3552825" cy="546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281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3112B-3B5E-C348-750E-C8486105D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Plenary Discussion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3AED05E-DECF-193F-18FD-44544BF0F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en-GB" noProof="0" smtClean="0"/>
              <a:t>20</a:t>
            </a:fld>
            <a:endParaRPr lang="en-GB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AF0A176-CD6B-068B-17C7-689BE6A64F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noProof="0" dirty="0"/>
          </a:p>
          <a:p>
            <a:endParaRPr lang="en-GB" noProof="0" dirty="0"/>
          </a:p>
          <a:p>
            <a:r>
              <a:rPr lang="en-GB" sz="2000" b="1" noProof="0" dirty="0">
                <a:solidFill>
                  <a:srgbClr val="00963E"/>
                </a:solidFill>
                <a:latin typeface="+mj-lt"/>
              </a:rPr>
              <a:t>What have you learnt on how to improve your topic / research question ideas for the health inequality research project?</a:t>
            </a:r>
          </a:p>
          <a:p>
            <a:endParaRPr lang="en-GB" sz="2000" b="1" noProof="0" dirty="0">
              <a:solidFill>
                <a:srgbClr val="00963E"/>
              </a:solidFill>
              <a:latin typeface="+mj-lt"/>
            </a:endParaRPr>
          </a:p>
          <a:p>
            <a:endParaRPr lang="en-GB" sz="2000" b="1" noProof="0" dirty="0">
              <a:solidFill>
                <a:srgbClr val="00963E"/>
              </a:solidFill>
              <a:latin typeface="+mj-lt"/>
            </a:endParaRPr>
          </a:p>
          <a:p>
            <a:r>
              <a:rPr lang="en-GB" sz="2000" b="1" noProof="0" dirty="0">
                <a:solidFill>
                  <a:srgbClr val="00963E"/>
                </a:solidFill>
                <a:latin typeface="+mj-lt"/>
              </a:rPr>
              <a:t>What challenges are there to come up with CARS research question for this course? And what could be good solutions to overcome these challenges?</a:t>
            </a:r>
          </a:p>
        </p:txBody>
      </p:sp>
    </p:spTree>
    <p:extLst>
      <p:ext uri="{BB962C8B-B14F-4D97-AF65-F5344CB8AC3E}">
        <p14:creationId xmlns:p14="http://schemas.microsoft.com/office/powerpoint/2010/main" val="21813508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B5E6B2-79C6-8921-4E1E-DB50CF512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Outlook next week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63632CE-87A4-FBDA-C335-1F02410E8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en-GB" noProof="0" smtClean="0"/>
              <a:t>21</a:t>
            </a:fld>
            <a:endParaRPr lang="en-GB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46C947E-F350-568D-D0AA-539392C271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b="1" noProof="0" dirty="0"/>
          </a:p>
          <a:p>
            <a:endParaRPr lang="en-GB" b="1" noProof="0" dirty="0"/>
          </a:p>
          <a:p>
            <a:r>
              <a:rPr lang="en-GB" b="1" noProof="0" dirty="0">
                <a:latin typeface="+mj-lt"/>
              </a:rPr>
              <a:t>5	13.10.2025	Socio-economic health inequalities</a:t>
            </a:r>
          </a:p>
          <a:p>
            <a:endParaRPr lang="en-GB" u="sng" noProof="0" dirty="0"/>
          </a:p>
          <a:p>
            <a:r>
              <a:rPr lang="en-GB" noProof="0" dirty="0"/>
              <a:t>Weeks 5-8: zooming in on specific health inequality areas</a:t>
            </a:r>
            <a:endParaRPr lang="en-GB" dirty="0"/>
          </a:p>
          <a:p>
            <a:r>
              <a:rPr lang="en-GB" dirty="0"/>
              <a:t>Week 5: SES as a multidimensional concept; main indicators; key mechanisms</a:t>
            </a:r>
            <a:endParaRPr lang="en-GB" noProof="0" dirty="0"/>
          </a:p>
          <a:p>
            <a:endParaRPr lang="en-GB" u="sng" noProof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u="sng" noProof="0" dirty="0"/>
              <a:t>Reading</a:t>
            </a:r>
            <a:r>
              <a:rPr lang="en-GB" noProof="0" dirty="0"/>
              <a:t>: Link, B. G., García, S. J., Firat, R., La </a:t>
            </a:r>
            <a:r>
              <a:rPr lang="en-GB" noProof="0" dirty="0" err="1"/>
              <a:t>Scalla</a:t>
            </a:r>
            <a:r>
              <a:rPr lang="en-GB" noProof="0" dirty="0"/>
              <a:t>, S., &amp; Phelan, J. C. (2024).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noProof="0" dirty="0"/>
              <a:t>Socioeconomic-Status-Based Disrespect, Discrimination, Exclusion, and Shaming: A Potential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noProof="0" dirty="0"/>
              <a:t>Source of Health Inequalities? </a:t>
            </a:r>
            <a:r>
              <a:rPr lang="en-GB" i="1" noProof="0" dirty="0"/>
              <a:t>Journal of Health and Social </a:t>
            </a:r>
            <a:r>
              <a:rPr lang="en-GB" i="1" noProof="0" dirty="0" err="1"/>
              <a:t>Behavior</a:t>
            </a:r>
            <a:r>
              <a:rPr lang="en-GB" noProof="0" dirty="0"/>
              <a:t>, 65(4), 558–576.</a:t>
            </a:r>
          </a:p>
          <a:p>
            <a:endParaRPr lang="en-GB" u="sng" noProof="0" dirty="0"/>
          </a:p>
          <a:p>
            <a:r>
              <a:rPr lang="en-GB" u="sng" noProof="0" dirty="0"/>
              <a:t>Applied focus</a:t>
            </a:r>
            <a:r>
              <a:rPr lang="en-GB" noProof="0" dirty="0"/>
              <a:t>: Disparities by education, occupation, income, subjective SES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5077469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DD29B7-B65B-DED0-D6C8-C8C8DF4EF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References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C92A160-F563-D402-3115-22953A7A9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en-GB" noProof="0" smtClean="0"/>
              <a:t>22</a:t>
            </a:fld>
            <a:endParaRPr lang="en-GB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3C40011-4FED-A2D5-39BC-2B1AC94B57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Baute, S. (2025). Health inequality attributions and support for healthcare policy. </a:t>
            </a:r>
            <a:r>
              <a:rPr lang="en-US" sz="1200" i="1" dirty="0"/>
              <a:t>Social Science &amp; Medicine</a:t>
            </a:r>
            <a:r>
              <a:rPr lang="en-US" sz="1200" dirty="0"/>
              <a:t>, 117946. </a:t>
            </a:r>
            <a:r>
              <a:rPr lang="en-US" sz="1200" dirty="0">
                <a:hlinkClick r:id="rId2"/>
              </a:rPr>
              <a:t>https://doi.org/10.1016/j.socscimed.2025.117946</a:t>
            </a:r>
            <a:endParaRPr lang="en-US" sz="1200" dirty="0"/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Baute, S., &amp; Bellani, L. (2024). Healthcare deservingness: How risk factors and income shape responsibility attribution for health outcomes and healthcare costs. </a:t>
            </a:r>
            <a:r>
              <a:rPr lang="en-US" sz="1200" i="1" dirty="0"/>
              <a:t>European Sociological Review</a:t>
            </a:r>
            <a:r>
              <a:rPr lang="en-US" sz="1200" dirty="0"/>
              <a:t>, jcae049. </a:t>
            </a:r>
            <a:r>
              <a:rPr lang="en-US" sz="1200" dirty="0">
                <a:hlinkClick r:id="rId3"/>
              </a:rPr>
              <a:t>https://doi.org/10.1093/esr/jcae049</a:t>
            </a:r>
            <a:endParaRPr lang="en-US" sz="1200" dirty="0"/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Bridger, E. K. (2023). Subjective socioeconomic status and agreement that health is determined by distal and proximal factors. </a:t>
            </a:r>
            <a:r>
              <a:rPr lang="en-US" sz="1200" i="1" dirty="0"/>
              <a:t>International Journal of Psychology</a:t>
            </a:r>
            <a:r>
              <a:rPr lang="en-US" sz="1200" dirty="0"/>
              <a:t>, </a:t>
            </a:r>
            <a:r>
              <a:rPr lang="en-US" sz="1200" i="1" dirty="0"/>
              <a:t>58</a:t>
            </a:r>
            <a:r>
              <a:rPr lang="en-US" sz="1200" dirty="0"/>
              <a:t>(6), 536–544. </a:t>
            </a:r>
            <a:r>
              <a:rPr lang="en-US" sz="1200" dirty="0">
                <a:hlinkClick r:id="rId4"/>
              </a:rPr>
              <a:t>https://doi.org/10.1002/ijop.12928</a:t>
            </a:r>
            <a:endParaRPr lang="en-US" sz="1200" dirty="0"/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Bridger, E. K., Tufte-Hewett, A., &amp; Comerford, D. A. (2023). Dispositional and situational attributions for why the rich live longer than the poor. </a:t>
            </a:r>
            <a:r>
              <a:rPr lang="en-US" sz="1200" i="1" dirty="0"/>
              <a:t>Journal of Applied Social Psychology</a:t>
            </a:r>
            <a:r>
              <a:rPr lang="en-US" sz="1200" dirty="0"/>
              <a:t>, </a:t>
            </a:r>
            <a:r>
              <a:rPr lang="en-US" sz="1200" i="1" dirty="0"/>
              <a:t>53</a:t>
            </a:r>
            <a:r>
              <a:rPr lang="en-US" sz="1200" dirty="0"/>
              <a:t>(6), 469–481. </a:t>
            </a:r>
            <a:r>
              <a:rPr lang="en-US" sz="1200" dirty="0">
                <a:hlinkClick r:id="rId5"/>
              </a:rPr>
              <a:t>https://doi.org/10.1111/jasp.12955</a:t>
            </a:r>
            <a:endParaRPr lang="en-US" sz="1200" dirty="0"/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Davies, B., &amp; Savulescu, J. (2019). Solidarity and Responsibility in Health Care. </a:t>
            </a:r>
            <a:r>
              <a:rPr lang="en-US" sz="1200" i="1" dirty="0"/>
              <a:t>Public Health Ethics</a:t>
            </a:r>
            <a:r>
              <a:rPr lang="en-US" sz="1200" dirty="0"/>
              <a:t>, </a:t>
            </a:r>
            <a:r>
              <a:rPr lang="en-US" sz="1200" i="1" dirty="0"/>
              <a:t>12</a:t>
            </a:r>
            <a:r>
              <a:rPr lang="en-US" sz="1200" dirty="0"/>
              <a:t>(2), 133–144. </a:t>
            </a:r>
            <a:r>
              <a:rPr lang="en-US" sz="1200" dirty="0">
                <a:hlinkClick r:id="rId6"/>
              </a:rPr>
              <a:t>https://doi.org/10.1093/phe/phz008</a:t>
            </a:r>
            <a:endParaRPr lang="en-US" sz="1200" dirty="0"/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200" dirty="0" err="1"/>
              <a:t>Gollust</a:t>
            </a:r>
            <a:r>
              <a:rPr lang="en-US" sz="1200" dirty="0"/>
              <a:t>, S. E., &amp; Lynch, J. (2011). Who Deserves Health Care? The Effects of Causal Attributions and Group Cues on Public Attitudes About Responsibility for Health Care Costs. </a:t>
            </a:r>
            <a:r>
              <a:rPr lang="en-US" sz="1200" i="1" dirty="0"/>
              <a:t>Journal of Health Politics, Policy and Law</a:t>
            </a:r>
            <a:r>
              <a:rPr lang="en-US" sz="1200" dirty="0"/>
              <a:t>, </a:t>
            </a:r>
            <a:r>
              <a:rPr lang="en-US" sz="1200" i="1" dirty="0"/>
              <a:t>36</a:t>
            </a:r>
            <a:r>
              <a:rPr lang="en-US" sz="1200" dirty="0"/>
              <a:t>(6), 1061–1095. </a:t>
            </a:r>
            <a:r>
              <a:rPr lang="en-US" sz="1200" dirty="0">
                <a:hlinkClick r:id="rId7"/>
              </a:rPr>
              <a:t>https://doi.org/10.1215/03616878-1460578</a:t>
            </a:r>
            <a:endParaRPr lang="en-US" sz="1200" dirty="0"/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Lundell, H., </a:t>
            </a:r>
            <a:r>
              <a:rPr lang="en-US" sz="1200" dirty="0" err="1"/>
              <a:t>Niederdeppe</a:t>
            </a:r>
            <a:r>
              <a:rPr lang="en-US" sz="1200" dirty="0"/>
              <a:t>, J., &amp; Clarke, C. (2013). Public Views About Health Causation, Attributions of Responsibility, and Inequality. </a:t>
            </a:r>
            <a:r>
              <a:rPr lang="en-US" sz="1200" i="1" dirty="0"/>
              <a:t>Journal of Health Communication</a:t>
            </a:r>
            <a:r>
              <a:rPr lang="en-US" sz="1200" dirty="0"/>
              <a:t>, </a:t>
            </a:r>
            <a:r>
              <a:rPr lang="en-US" sz="1200" i="1" dirty="0"/>
              <a:t>18</a:t>
            </a:r>
            <a:r>
              <a:rPr lang="en-US" sz="1200" dirty="0"/>
              <a:t>(9), 1116–1130. </a:t>
            </a:r>
            <a:r>
              <a:rPr lang="en-US" sz="1200" dirty="0">
                <a:hlinkClick r:id="rId8"/>
              </a:rPr>
              <a:t>https://doi.org/10.1080/10810730.2013.768724</a:t>
            </a:r>
            <a:endParaRPr lang="en-US" sz="1200" dirty="0"/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Lynch, J., &amp; </a:t>
            </a:r>
            <a:r>
              <a:rPr lang="en-US" sz="1200" dirty="0" err="1"/>
              <a:t>Gollust</a:t>
            </a:r>
            <a:r>
              <a:rPr lang="en-US" sz="1200" dirty="0"/>
              <a:t>, S. E. (2010). Playing Fair: Fairness Beliefs and Health Policy Preferences in the United States. </a:t>
            </a:r>
            <a:r>
              <a:rPr lang="en-US" sz="1200" i="1" dirty="0"/>
              <a:t>Journal of Health Politics, Policy and Law</a:t>
            </a:r>
            <a:r>
              <a:rPr lang="en-US" sz="1200" dirty="0"/>
              <a:t>, </a:t>
            </a:r>
            <a:r>
              <a:rPr lang="en-US" sz="1200" i="1" dirty="0"/>
              <a:t>35</a:t>
            </a:r>
            <a:r>
              <a:rPr lang="en-US" sz="1200" dirty="0"/>
              <a:t>(6), 849–887. </a:t>
            </a:r>
            <a:r>
              <a:rPr lang="en-US" sz="1200" dirty="0">
                <a:hlinkClick r:id="rId9"/>
              </a:rPr>
              <a:t>https://doi.org/10.1215/03616878-2010-032</a:t>
            </a:r>
            <a:endParaRPr lang="en-US" sz="1200" dirty="0"/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McCauley, A., &amp; Ruggeri, A. (2020). From Questions and Puzzles to Research Project. In L. </a:t>
            </a:r>
            <a:r>
              <a:rPr lang="en-US" sz="1200" dirty="0" err="1"/>
              <a:t>Curini</a:t>
            </a:r>
            <a:r>
              <a:rPr lang="en-US" sz="1200" dirty="0"/>
              <a:t> &amp; R. Franzese (Eds.), </a:t>
            </a:r>
            <a:r>
              <a:rPr lang="en-US" sz="1200" i="1" dirty="0"/>
              <a:t>The SAGE Handbook of Research Methods in Political Science and International Relations</a:t>
            </a:r>
            <a:r>
              <a:rPr lang="en-US" sz="1200" dirty="0"/>
              <a:t> (pp. 26–43). SAGE Publications Ltd. </a:t>
            </a:r>
            <a:r>
              <a:rPr lang="en-US" sz="1200" dirty="0">
                <a:hlinkClick r:id="rId10"/>
              </a:rPr>
              <a:t>https://doi.org/10.4135/9781526486387</a:t>
            </a:r>
            <a:endParaRPr lang="en-US" sz="1200" dirty="0"/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Robert, S. A., </a:t>
            </a:r>
            <a:r>
              <a:rPr lang="en-US" sz="1200" dirty="0" err="1"/>
              <a:t>Booske</a:t>
            </a:r>
            <a:r>
              <a:rPr lang="en-US" sz="1200" dirty="0"/>
              <a:t>, B. C., Rigby, E., &amp; Rohan, A. M. (2008). Public views on determinants of health, interventions to improve health, and priorities for government. </a:t>
            </a:r>
            <a:r>
              <a:rPr lang="en-US" sz="1200" i="1" dirty="0"/>
              <a:t>WMJ: Official Publication of the State Medical Society of Wisconsin</a:t>
            </a:r>
            <a:r>
              <a:rPr lang="en-US" sz="1200" dirty="0"/>
              <a:t>, </a:t>
            </a:r>
            <a:r>
              <a:rPr lang="en-US" sz="1200" i="1" dirty="0"/>
              <a:t>107</a:t>
            </a:r>
            <a:r>
              <a:rPr lang="en-US" sz="1200" dirty="0"/>
              <a:t>(3), 124–130.</a:t>
            </a:r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Schnittker, J. (2015). The Politics of Health Beliefs: Cross-National Evidence. In </a:t>
            </a:r>
            <a:r>
              <a:rPr lang="en-US" sz="1200" i="1" dirty="0"/>
              <a:t>Education, Social Factors, and Health Beliefs in Health and Health Care Services</a:t>
            </a:r>
            <a:r>
              <a:rPr lang="en-US" sz="1200" dirty="0"/>
              <a:t> (Vol. 33, p. 0). Emerald Group Publishing Limited. </a:t>
            </a:r>
            <a:r>
              <a:rPr lang="en-US" sz="1200" dirty="0">
                <a:hlinkClick r:id="rId11"/>
              </a:rPr>
              <a:t>https://doi.org/10.1108/S0275-495920150000033002</a:t>
            </a:r>
            <a:endParaRPr lang="en-US" sz="1200" dirty="0"/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Wagner, A. J. M., </a:t>
            </a:r>
            <a:r>
              <a:rPr lang="en-US" sz="1200" dirty="0" err="1"/>
              <a:t>Reifegerste</a:t>
            </a:r>
            <a:r>
              <a:rPr lang="en-US" sz="1200" dirty="0"/>
              <a:t>, D., &amp; Scherr, S. (2025). The Same, but Different: Understanding Responsibility Attributions for Depression with a Cross-national Survey in the United States and Germany. </a:t>
            </a:r>
            <a:r>
              <a:rPr lang="en-US" sz="1200" i="1" dirty="0"/>
              <a:t>Health Policy</a:t>
            </a:r>
            <a:r>
              <a:rPr lang="en-US" sz="1200" dirty="0"/>
              <a:t>, 105445. </a:t>
            </a:r>
            <a:r>
              <a:rPr lang="en-US" sz="1200" dirty="0">
                <a:hlinkClick r:id="rId12"/>
              </a:rPr>
              <a:t>https://doi.org/10.1016/j.healthpol.2025.105445</a:t>
            </a:r>
            <a:endParaRPr lang="en-US" sz="1200" dirty="0"/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GB" sz="1200" noProof="0" dirty="0"/>
          </a:p>
        </p:txBody>
      </p:sp>
    </p:spTree>
    <p:extLst>
      <p:ext uri="{BB962C8B-B14F-4D97-AF65-F5344CB8AC3E}">
        <p14:creationId xmlns:p14="http://schemas.microsoft.com/office/powerpoint/2010/main" val="3111741107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ität Luzern">
  <a:themeElements>
    <a:clrScheme name="Custom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5007D"/>
      </a:accent1>
      <a:accent2>
        <a:srgbClr val="941680"/>
      </a:accent2>
      <a:accent3>
        <a:srgbClr val="009EE3"/>
      </a:accent3>
      <a:accent4>
        <a:srgbClr val="2E2382"/>
      </a:accent4>
      <a:accent5>
        <a:srgbClr val="FFED00"/>
      </a:accent5>
      <a:accent6>
        <a:srgbClr val="94C119"/>
      </a:accent6>
      <a:hlink>
        <a:srgbClr val="002D89"/>
      </a:hlink>
      <a:folHlink>
        <a:srgbClr val="002D89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9D3E6"/>
        </a:solidFill>
        <a:ln>
          <a:noFill/>
        </a:ln>
      </a:spPr>
      <a:bodyPr lIns="72000" tIns="72000" rIns="72000" bIns="72000" rtlCol="0" anchor="t" anchorCtr="0"/>
      <a:lstStyle>
        <a:defPPr algn="l">
          <a:lnSpc>
            <a:spcPct val="117000"/>
          </a:lnSpc>
          <a:defRPr sz="14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0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17000"/>
          </a:lnSpc>
          <a:defRPr sz="1400" dirty="0">
            <a:solidFill>
              <a:srgbClr val="000000"/>
            </a:solidFill>
          </a:defRPr>
        </a:defPPr>
      </a:lstStyle>
    </a:txDef>
  </a:objectDefaults>
  <a:extraClrSchemeLst>
    <a:extraClrScheme>
      <a:clrScheme name="Universität Luzern - Farbstil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5007D"/>
        </a:accent1>
        <a:accent2>
          <a:srgbClr val="941680"/>
        </a:accent2>
        <a:accent3>
          <a:srgbClr val="009EE3"/>
        </a:accent3>
        <a:accent4>
          <a:srgbClr val="2E2382"/>
        </a:accent4>
        <a:accent5>
          <a:srgbClr val="FFED00"/>
        </a:accent5>
        <a:accent6>
          <a:srgbClr val="94C119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niversität Luzern - Farbstil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9100"/>
        </a:accent1>
        <a:accent2>
          <a:srgbClr val="E3000B"/>
        </a:accent2>
        <a:accent3>
          <a:srgbClr val="009992"/>
        </a:accent3>
        <a:accent4>
          <a:srgbClr val="0068B4"/>
        </a:accent4>
        <a:accent5>
          <a:srgbClr val="E5004F"/>
        </a:accent5>
        <a:accent6>
          <a:srgbClr val="00963E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niversität Luzern - Grau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000000"/>
        </a:accent1>
        <a:accent2>
          <a:srgbClr val="333333"/>
        </a:accent2>
        <a:accent3>
          <a:srgbClr val="666666"/>
        </a:accent3>
        <a:accent4>
          <a:srgbClr val="999999"/>
        </a:accent4>
        <a:accent5>
          <a:srgbClr val="CCCCCC"/>
        </a:accent5>
        <a:accent6>
          <a:srgbClr val="E6E6E6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Primäre Farbe 100%">
      <a:srgbClr val="E5007D"/>
    </a:custClr>
    <a:custClr name="Sekundäre Farbe 100%">
      <a:srgbClr val="000000"/>
    </a:custClr>
    <a:custClr>
      <a:srgbClr val="FFFFFF"/>
    </a:custClr>
    <a:custClr>
      <a:srgbClr val="0068B4"/>
    </a:custClr>
    <a:custClr>
      <a:srgbClr val="009EE3"/>
    </a:custClr>
    <a:custClr>
      <a:srgbClr val="009992"/>
    </a:custClr>
    <a:custClr>
      <a:srgbClr val="00963E"/>
    </a:custClr>
    <a:custClr>
      <a:srgbClr val="94C119"/>
    </a:custClr>
    <a:custClr>
      <a:srgbClr val="FFFFFF"/>
    </a:custClr>
    <a:custClr name="Rosa Hintergrund">
      <a:srgbClr val="F9D3E6"/>
    </a:custClr>
    <a:custClr name="Primäre Farbe 75%">
      <a:srgbClr val="EB5F9E"/>
    </a:custClr>
    <a:custClr name="Sekundäre Farbe 75%">
      <a:srgbClr val="646464"/>
    </a:custClr>
    <a:custClr>
      <a:srgbClr val="FFFFFF"/>
    </a:custClr>
    <a:custClr>
      <a:srgbClr val="FFED00"/>
    </a:custClr>
    <a:custClr>
      <a:srgbClr val="F39100"/>
    </a:custClr>
    <a:custClr>
      <a:srgbClr val="E3000B"/>
    </a:custClr>
    <a:custClr>
      <a:srgbClr val="E5004F"/>
    </a:custClr>
    <a:custClr>
      <a:srgbClr val="E5007D"/>
    </a:custClr>
    <a:custClr>
      <a:srgbClr val="FFFFFF"/>
    </a:custClr>
    <a:custClr>
      <a:srgbClr val="FFFFFF"/>
    </a:custClr>
    <a:custClr name="Primäre Farbe 50%">
      <a:srgbClr val="F29EC4"/>
    </a:custClr>
    <a:custClr name="Sekundäre Farbe 50%">
      <a:srgbClr val="9C9C9C"/>
    </a:custClr>
    <a:custClr>
      <a:srgbClr val="FFFFFF"/>
    </a:custClr>
    <a:custClr>
      <a:srgbClr val="941680"/>
    </a:custClr>
    <a:custClr>
      <a:srgbClr val="2E2382"/>
    </a:custClr>
    <a:custClr>
      <a:srgbClr val="FFFFFF"/>
    </a:custClr>
    <a:custClr>
      <a:srgbClr val="9184BE"/>
    </a:custClr>
    <a:custClr>
      <a:srgbClr val="C592C1"/>
    </a:custClr>
    <a:custClr>
      <a:srgbClr val="FFFFFF"/>
    </a:custClr>
    <a:custClr>
      <a:srgbClr val="FFFFFF"/>
    </a:custClr>
    <a:custClr name="Primäre Farbe 25%">
      <a:srgbClr val="F9D2E6"/>
    </a:custClr>
    <a:custClr name="Sekundäre Farbe 25%">
      <a:srgbClr val="D0D0D0"/>
    </a:custClr>
    <a:custClr>
      <a:srgbClr val="FFFFFF"/>
    </a:custClr>
    <a:custClr>
      <a:srgbClr val="F29EC4"/>
    </a:custClr>
    <a:custClr>
      <a:srgbClr val="F39BA2"/>
    </a:custClr>
    <a:custClr>
      <a:srgbClr val="F3987A"/>
    </a:custClr>
    <a:custClr>
      <a:srgbClr val="FCCB8D"/>
    </a:custClr>
    <a:custClr>
      <a:srgbClr val="FFF59A"/>
    </a:custClr>
    <a:custClr>
      <a:srgbClr val="FFFFFF"/>
    </a:custClr>
    <a:custClr>
      <a:srgbClr val="FFFFFF"/>
    </a:custClr>
    <a:custClr name="Primäre Farbe 5%">
      <a:srgbClr val="FEF6FA"/>
    </a:custClr>
    <a:custClr name="Sekundäre Farbe 5%">
      <a:srgbClr val="F6F6F6"/>
    </a:custClr>
    <a:custClr>
      <a:srgbClr val="FFFFFF"/>
    </a:custClr>
    <a:custClr>
      <a:srgbClr val="CFE09A"/>
    </a:custClr>
    <a:custClr>
      <a:srgbClr val="8DC899"/>
    </a:custClr>
    <a:custClr>
      <a:srgbClr val="91CCC9"/>
    </a:custClr>
    <a:custClr>
      <a:srgbClr val="81D0F5"/>
    </a:custClr>
    <a:custClr>
      <a:srgbClr val="8AADDC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2025 04_Presentation_template_UniLU_EN.potx" id="{5BB24A47-C4E0-4986-8B17-2EA72AABFD7F}" vid="{6163BBC9-2278-45B2-9623-4BB273D7B1F5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ocument xmlns="http://www.docugate.com/2015/docugatedatastorexml">
  <snapins xmlns=""/>
</document>
</file>

<file path=customXml/itemProps1.xml><?xml version="1.0" encoding="utf-8"?>
<ds:datastoreItem xmlns:ds="http://schemas.openxmlformats.org/officeDocument/2006/customXml" ds:itemID="{427112A0-A08A-45DC-9DED-48C9A0E4C6BD}">
  <ds:schemaRefs>
    <ds:schemaRef ds:uri="http://www.docugate.com/2015/docugatedatastorexml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2077</Words>
  <Application>Microsoft Office PowerPoint</Application>
  <PresentationFormat>Benutzerdefiniert</PresentationFormat>
  <Paragraphs>232</Paragraphs>
  <Slides>22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8" baseType="lpstr">
      <vt:lpstr>Arial</vt:lpstr>
      <vt:lpstr>Courier New</vt:lpstr>
      <vt:lpstr>Franklin Gothic Book</vt:lpstr>
      <vt:lpstr>Franklin Gothic Medium</vt:lpstr>
      <vt:lpstr>Wingdings</vt:lpstr>
      <vt:lpstr>Universität Luzern</vt:lpstr>
      <vt:lpstr>PowerPoint-Präsentation</vt:lpstr>
      <vt:lpstr>Organizational: Presentations written project</vt:lpstr>
      <vt:lpstr>Recap last week</vt:lpstr>
      <vt:lpstr>Link to this week’s topic</vt:lpstr>
      <vt:lpstr>Baute’s typology of health inequality attribution</vt:lpstr>
      <vt:lpstr>Operationalization of the typology</vt:lpstr>
      <vt:lpstr>Results: Popular explanations of health inequalities</vt:lpstr>
      <vt:lpstr>Consequences (1): healthcare solidarity</vt:lpstr>
      <vt:lpstr>Consequences (2): (un)Fairness of health inequality</vt:lpstr>
      <vt:lpstr>Generalizability – ISSP Items on causes of health</vt:lpstr>
      <vt:lpstr>Cross-country variation</vt:lpstr>
      <vt:lpstr>PowerPoint-Präsentation</vt:lpstr>
      <vt:lpstr>PowerPoint-Präsentation</vt:lpstr>
      <vt:lpstr>PowerPoint-Präsentation</vt:lpstr>
      <vt:lpstr>Summing up</vt:lpstr>
      <vt:lpstr>From Topic to research question</vt:lpstr>
      <vt:lpstr>What is a good research question? </vt:lpstr>
      <vt:lpstr>Research questions – what to avoid ⚠️</vt:lpstr>
      <vt:lpstr>Exercise: Peer feedback on Research questions</vt:lpstr>
      <vt:lpstr>Plenary Discussion</vt:lpstr>
      <vt:lpstr>Outlook next week</vt:lpstr>
      <vt:lpstr>References</vt:lpstr>
    </vt:vector>
  </TitlesOfParts>
  <Company>Universitaet Luzern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Weisstanner David</dc:creator>
  <cp:lastModifiedBy>Weisstanner David</cp:lastModifiedBy>
  <cp:revision>12</cp:revision>
  <dcterms:created xsi:type="dcterms:W3CDTF">2025-04-15T07:59:06Z</dcterms:created>
  <dcterms:modified xsi:type="dcterms:W3CDTF">2025-11-01T20:37:13Z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bel">
    <vt:i4>0</vt:i4>
  </property>
  <property fmtid="{D5CDD505-2E9C-101B-9397-08002B2CF9AE}" pid="3" name="einzelfelder_datum">
    <vt:lpwstr>15 April 2025</vt:lpwstr>
  </property>
  <property fmtid="{D5CDD505-2E9C-101B-9397-08002B2CF9AE}" pid="4" name="einzelfelder_datumunformatted">
    <vt:lpwstr>04/15/2025 00:00:00</vt:lpwstr>
  </property>
  <property fmtid="{D5CDD505-2E9C-101B-9397-08002B2CF9AE}" pid="5" name="einzelfelder_präsentationstitel">
    <vt:lpwstr>Title of the presentation</vt:lpwstr>
  </property>
  <property fmtid="{D5CDD505-2E9C-101B-9397-08002B2CF9AE}" pid="6" name="einzelfelder_präsentationstitelunformatted">
    <vt:lpwstr>Title of the presentation</vt:lpwstr>
  </property>
  <property fmtid="{D5CDD505-2E9C-101B-9397-08002B2CF9AE}" pid="7" name="mitarbeitende_ersteller_mitarbeitende_anrede">
    <vt:lpwstr>Herr</vt:lpwstr>
  </property>
  <property fmtid="{D5CDD505-2E9C-101B-9397-08002B2CF9AE}" pid="8" name="mitarbeitende_ersteller_mitarbeitende_anredee">
    <vt:lpwstr>Mr</vt:lpwstr>
  </property>
  <property fmtid="{D5CDD505-2E9C-101B-9397-08002B2CF9AE}" pid="9" name="mitarbeitende_ersteller_mitarbeitende_anstellungbis">
    <vt:lpwstr>31.12.2027</vt:lpwstr>
  </property>
  <property fmtid="{D5CDD505-2E9C-101B-9397-08002B2CF9AE}" pid="10" name="mitarbeitende_ersteller_mitarbeitende_anstellungvon">
    <vt:lpwstr>01.01.2023</vt:lpwstr>
  </property>
  <property fmtid="{D5CDD505-2E9C-101B-9397-08002B2CF9AE}" pid="11" name="mitarbeitende_ersteller_mitarbeitende_email">
    <vt:lpwstr>david.weisstanner@unilu.ch</vt:lpwstr>
  </property>
  <property fmtid="{D5CDD505-2E9C-101B-9397-08002B2CF9AE}" pid="12" name="mitarbeitende_ersteller_mitarbeitende_fakultaetsumbruch">
    <vt:lpwstr>Fakultät für Gesundheits-wissenschaften und Medizin</vt:lpwstr>
  </property>
  <property fmtid="{D5CDD505-2E9C-101B-9397-08002B2CF9AE}" pid="13" name="mitarbeitende_ersteller_mitarbeitende_fakultaet">
    <vt:lpwstr>Fakultät für Gesundheitswissenschaften und Medizin</vt:lpwstr>
  </property>
  <property fmtid="{D5CDD505-2E9C-101B-9397-08002B2CF9AE}" pid="14" name="mitarbeitende_ersteller_mitarbeitende_fakultaete">
    <vt:lpwstr>Faculty of Health Sciences and Medicine</vt:lpwstr>
  </property>
  <property fmtid="{D5CDD505-2E9C-101B-9397-08002B2CF9AE}" pid="15" name="mitarbeitende_ersteller_mitarbeitende_fakultaetkurzzeichen">
    <vt:lpwstr>GMF</vt:lpwstr>
  </property>
  <property fmtid="{D5CDD505-2E9C-101B-9397-08002B2CF9AE}" pid="16" name="mitarbeitende_ersteller_mitarbeitende_finanzquelle">
    <vt:lpwstr>Budget der Hochschule</vt:lpwstr>
  </property>
  <property fmtid="{D5CDD505-2E9C-101B-9397-08002B2CF9AE}" pid="17" name="mitarbeitende_ersteller_mitarbeitende_funktion">
    <vt:lpwstr>Assistenzprofessor</vt:lpwstr>
  </property>
  <property fmtid="{D5CDD505-2E9C-101B-9397-08002B2CF9AE}" pid="18" name="mitarbeitende_ersteller_mitarbeitende_funktione">
    <vt:lpwstr>Assistant Professor</vt:lpwstr>
  </property>
  <property fmtid="{D5CDD505-2E9C-101B-9397-08002B2CF9AE}" pid="19" name="mitarbeitende_ersteller_mitarbeitende_geburtstag">
    <vt:lpwstr>10.05.1989</vt:lpwstr>
  </property>
  <property fmtid="{D5CDD505-2E9C-101B-9397-08002B2CF9AE}" pid="20" name="mitarbeitende_ersteller_mitarbeitende_geschlecht">
    <vt:lpwstr>m</vt:lpwstr>
  </property>
  <property fmtid="{D5CDD505-2E9C-101B-9397-08002B2CF9AE}" pid="21" name="mitarbeitende_ersteller_mitarbeitende_id">
    <vt:lpwstr/>
  </property>
  <property fmtid="{D5CDD505-2E9C-101B-9397-08002B2CF9AE}" pid="22" name="mitarbeitende_ersteller_mitarbeitende_institut">
    <vt:lpwstr>Gesundheitswissenschaften</vt:lpwstr>
  </property>
  <property fmtid="{D5CDD505-2E9C-101B-9397-08002B2CF9AE}" pid="23" name="mitarbeitende_ersteller_mitarbeitende_institute">
    <vt:lpwstr>Health Sciences</vt:lpwstr>
  </property>
  <property fmtid="{D5CDD505-2E9C-101B-9397-08002B2CF9AE}" pid="24" name="mitarbeitende_ersteller_mitarbeitende_kostenstelle">
    <vt:lpwstr>6200</vt:lpwstr>
  </property>
  <property fmtid="{D5CDD505-2E9C-101B-9397-08002B2CF9AE}" pid="25" name="mitarbeitende_ersteller_mitarbeitende_kurzzeichen">
    <vt:lpwstr>WeDa</vt:lpwstr>
  </property>
  <property fmtid="{D5CDD505-2E9C-101B-9397-08002B2CF9AE}" pid="26" name="mitarbeitende_ersteller_mitarbeitende_land">
    <vt:lpwstr>Schweiz</vt:lpwstr>
  </property>
  <property fmtid="{D5CDD505-2E9C-101B-9397-08002B2CF9AE}" pid="27" name="mitarbeitende_ersteller_mitarbeitende_logoname">
    <vt:lpwstr/>
  </property>
  <property fmtid="{D5CDD505-2E9C-101B-9397-08002B2CF9AE}" pid="28" name="mitarbeitende_ersteller_mitarbeitende_ort">
    <vt:lpwstr>Luzern</vt:lpwstr>
  </property>
  <property fmtid="{D5CDD505-2E9C-101B-9397-08002B2CF9AE}" pid="29" name="mitarbeitende_ersteller_mitarbeitende_pensum">
    <vt:lpwstr>100</vt:lpwstr>
  </property>
  <property fmtid="{D5CDD505-2E9C-101B-9397-08002B2CF9AE}" pid="30" name="mitarbeitende_ersteller_mitarbeitende_plz">
    <vt:lpwstr>6005</vt:lpwstr>
  </property>
  <property fmtid="{D5CDD505-2E9C-101B-9397-08002B2CF9AE}" pid="31" name="mitarbeitende_ersteller_mitarbeitende_professurabteilungprojekt">
    <vt:lpwstr/>
  </property>
  <property fmtid="{D5CDD505-2E9C-101B-9397-08002B2CF9AE}" pid="32" name="mitarbeitende_ersteller_mitarbeitende_seminarinstitutfachbereich">
    <vt:lpwstr>Gesundheitswissenschaften</vt:lpwstr>
  </property>
  <property fmtid="{D5CDD505-2E9C-101B-9397-08002B2CF9AE}" pid="33" name="mitarbeitende_ersteller_mitarbeitende_strasse">
    <vt:lpwstr>Alpenquai 4</vt:lpwstr>
  </property>
  <property fmtid="{D5CDD505-2E9C-101B-9397-08002B2CF9AE}" pid="34" name="mitarbeitende_ersteller_mitarbeitende_svnummer">
    <vt:lpwstr>756.3354.3021.43</vt:lpwstr>
  </property>
  <property fmtid="{D5CDD505-2E9C-101B-9397-08002B2CF9AE}" pid="35" name="mitarbeitende_ersteller_mitarbeitende_teldirekt">
    <vt:lpwstr>+41 41 229 57 40</vt:lpwstr>
  </property>
  <property fmtid="{D5CDD505-2E9C-101B-9397-08002B2CF9AE}" pid="36" name="mitarbeitende_ersteller_mitarbeitende_titelhinten">
    <vt:lpwstr/>
  </property>
  <property fmtid="{D5CDD505-2E9C-101B-9397-08002B2CF9AE}" pid="37" name="mitarbeitende_ersteller_mitarbeitende_titelmitname">
    <vt:lpwstr>Ass.-Prof. David Weisstanner</vt:lpwstr>
  </property>
  <property fmtid="{D5CDD505-2E9C-101B-9397-08002B2CF9AE}" pid="38" name="mitarbeitende_ersteller_mitarbeitende_titelvor">
    <vt:lpwstr>Ass.-Prof.</vt:lpwstr>
  </property>
  <property fmtid="{D5CDD505-2E9C-101B-9397-08002B2CF9AE}" pid="39" name="mitarbeitende_ersteller_mitarbeitende_url">
    <vt:lpwstr>www.unilu.ch</vt:lpwstr>
  </property>
  <property fmtid="{D5CDD505-2E9C-101B-9397-08002B2CF9AE}" pid="40" name="mitarbeitende_ersteller_mitarbeitende_vorname">
    <vt:lpwstr>David</vt:lpwstr>
  </property>
  <property fmtid="{D5CDD505-2E9C-101B-9397-08002B2CF9AE}" pid="41" name="mitarbeitende_ersteller_mitarbeitende_name">
    <vt:lpwstr>Weisstanner</vt:lpwstr>
  </property>
  <property fmtid="{D5CDD505-2E9C-101B-9397-08002B2CF9AE}" pid="42" name="mitarbeitende_ersteller_mitarbeitende_personalnummer">
    <vt:lpwstr>419501</vt:lpwstr>
  </property>
  <property fmtid="{D5CDD505-2E9C-101B-9397-08002B2CF9AE}" pid="43" name="mitarbeitende_ersteller_mitarbeitende_nationalitaet">
    <vt:lpwstr>Schweiz</vt:lpwstr>
  </property>
  <property fmtid="{D5CDD505-2E9C-101B-9397-08002B2CF9AE}" pid="44" name="mitarbeitende_ersteller_mitarbeitende_nationalitaete">
    <vt:lpwstr>Switzerland</vt:lpwstr>
  </property>
  <property fmtid="{D5CDD505-2E9C-101B-9397-08002B2CF9AE}" pid="45" name="mitarbeitende_ersteller_sourceid">
    <vt:lpwstr>59360b04-643b-4c9b-ada7-4d540978b1e5</vt:lpwstr>
  </property>
  <property fmtid="{D5CDD505-2E9C-101B-9397-08002B2CF9AE}" pid="46" name="mitarbeitende_spesenfür_mitarbeitende_anrede">
    <vt:lpwstr>Herr</vt:lpwstr>
  </property>
  <property fmtid="{D5CDD505-2E9C-101B-9397-08002B2CF9AE}" pid="47" name="mitarbeitende_spesenfür_mitarbeitende_anredee">
    <vt:lpwstr>Mr</vt:lpwstr>
  </property>
  <property fmtid="{D5CDD505-2E9C-101B-9397-08002B2CF9AE}" pid="48" name="mitarbeitende_spesenfür_mitarbeitende_anstellungbis">
    <vt:lpwstr>31.12.2027</vt:lpwstr>
  </property>
  <property fmtid="{D5CDD505-2E9C-101B-9397-08002B2CF9AE}" pid="49" name="mitarbeitende_spesenfür_mitarbeitende_anstellungvon">
    <vt:lpwstr>01.01.2023</vt:lpwstr>
  </property>
  <property fmtid="{D5CDD505-2E9C-101B-9397-08002B2CF9AE}" pid="50" name="mitarbeitende_spesenfür_mitarbeitende_email">
    <vt:lpwstr>david.weisstanner@unilu.ch</vt:lpwstr>
  </property>
  <property fmtid="{D5CDD505-2E9C-101B-9397-08002B2CF9AE}" pid="51" name="mitarbeitende_spesenfür_mitarbeitende_fakultaetsumbruch">
    <vt:lpwstr>Gesundheitswissenschaften und Medizin</vt:lpwstr>
  </property>
  <property fmtid="{D5CDD505-2E9C-101B-9397-08002B2CF9AE}" pid="52" name="mitarbeitende_spesenfür_mitarbeitende_fakultaet">
    <vt:lpwstr>Gesundheitswissenschaften und Medizin</vt:lpwstr>
  </property>
  <property fmtid="{D5CDD505-2E9C-101B-9397-08002B2CF9AE}" pid="53" name="mitarbeitende_spesenfür_mitarbeitende_fakultaete">
    <vt:lpwstr>Department of Health Sciences and Medicine</vt:lpwstr>
  </property>
  <property fmtid="{D5CDD505-2E9C-101B-9397-08002B2CF9AE}" pid="54" name="mitarbeitende_spesenfür_mitarbeitende_fakultaetkurzzeichen">
    <vt:lpwstr>GWM</vt:lpwstr>
  </property>
  <property fmtid="{D5CDD505-2E9C-101B-9397-08002B2CF9AE}" pid="55" name="mitarbeitende_spesenfür_mitarbeitende_finanzquelle">
    <vt:lpwstr>Budget der Hochschule</vt:lpwstr>
  </property>
  <property fmtid="{D5CDD505-2E9C-101B-9397-08002B2CF9AE}" pid="56" name="mitarbeitende_spesenfür_mitarbeitende_funktion">
    <vt:lpwstr>Assistenzprofessor</vt:lpwstr>
  </property>
  <property fmtid="{D5CDD505-2E9C-101B-9397-08002B2CF9AE}" pid="57" name="mitarbeitende_spesenfür_mitarbeitende_funktione">
    <vt:lpwstr>Assistant Professor</vt:lpwstr>
  </property>
  <property fmtid="{D5CDD505-2E9C-101B-9397-08002B2CF9AE}" pid="58" name="mitarbeitende_spesenfür_mitarbeitende_geburtstag">
    <vt:lpwstr>10.05.1989</vt:lpwstr>
  </property>
  <property fmtid="{D5CDD505-2E9C-101B-9397-08002B2CF9AE}" pid="59" name="mitarbeitende_spesenfür_mitarbeitende_geschlecht">
    <vt:lpwstr>m</vt:lpwstr>
  </property>
  <property fmtid="{D5CDD505-2E9C-101B-9397-08002B2CF9AE}" pid="60" name="mitarbeitende_spesenfür_mitarbeitende_id">
    <vt:lpwstr/>
  </property>
  <property fmtid="{D5CDD505-2E9C-101B-9397-08002B2CF9AE}" pid="61" name="mitarbeitende_spesenfür_mitarbeitende_institut">
    <vt:lpwstr>Gesundheitswissenschaften</vt:lpwstr>
  </property>
  <property fmtid="{D5CDD505-2E9C-101B-9397-08002B2CF9AE}" pid="62" name="mitarbeitende_spesenfür_mitarbeitende_institute">
    <vt:lpwstr>Health Sciences</vt:lpwstr>
  </property>
  <property fmtid="{D5CDD505-2E9C-101B-9397-08002B2CF9AE}" pid="63" name="mitarbeitende_spesenfür_mitarbeitende_kostenstelle">
    <vt:lpwstr>6200</vt:lpwstr>
  </property>
  <property fmtid="{D5CDD505-2E9C-101B-9397-08002B2CF9AE}" pid="64" name="mitarbeitende_spesenfür_mitarbeitende_kurzzeichen">
    <vt:lpwstr>WeDa</vt:lpwstr>
  </property>
  <property fmtid="{D5CDD505-2E9C-101B-9397-08002B2CF9AE}" pid="65" name="mitarbeitende_spesenfür_mitarbeitende_land">
    <vt:lpwstr>Schweiz</vt:lpwstr>
  </property>
  <property fmtid="{D5CDD505-2E9C-101B-9397-08002B2CF9AE}" pid="66" name="mitarbeitende_spesenfür_mitarbeitende_logoname">
    <vt:lpwstr/>
  </property>
  <property fmtid="{D5CDD505-2E9C-101B-9397-08002B2CF9AE}" pid="67" name="mitarbeitende_spesenfür_mitarbeitende_ort">
    <vt:lpwstr>Luzern</vt:lpwstr>
  </property>
  <property fmtid="{D5CDD505-2E9C-101B-9397-08002B2CF9AE}" pid="68" name="mitarbeitende_spesenfür_mitarbeitende_pensum">
    <vt:lpwstr>100</vt:lpwstr>
  </property>
  <property fmtid="{D5CDD505-2E9C-101B-9397-08002B2CF9AE}" pid="69" name="mitarbeitende_spesenfür_mitarbeitende_plz">
    <vt:lpwstr>6002</vt:lpwstr>
  </property>
  <property fmtid="{D5CDD505-2E9C-101B-9397-08002B2CF9AE}" pid="70" name="mitarbeitende_spesenfür_mitarbeitende_professurabteilungprojekt">
    <vt:lpwstr/>
  </property>
  <property fmtid="{D5CDD505-2E9C-101B-9397-08002B2CF9AE}" pid="71" name="mitarbeitende_spesenfür_mitarbeitende_seminarinstitutfachbereich">
    <vt:lpwstr>Gesundheitswissenschaften</vt:lpwstr>
  </property>
  <property fmtid="{D5CDD505-2E9C-101B-9397-08002B2CF9AE}" pid="72" name="mitarbeitende_spesenfür_mitarbeitende_strasse">
    <vt:lpwstr>Inseliquai 10</vt:lpwstr>
  </property>
  <property fmtid="{D5CDD505-2E9C-101B-9397-08002B2CF9AE}" pid="73" name="mitarbeitende_spesenfür_mitarbeitende_svnummer">
    <vt:lpwstr>756.3354.3021.43</vt:lpwstr>
  </property>
  <property fmtid="{D5CDD505-2E9C-101B-9397-08002B2CF9AE}" pid="74" name="mitarbeitende_spesenfür_mitarbeitende_teldirekt">
    <vt:lpwstr>+41 41 229 57 40</vt:lpwstr>
  </property>
  <property fmtid="{D5CDD505-2E9C-101B-9397-08002B2CF9AE}" pid="75" name="mitarbeitende_spesenfür_mitarbeitende_titelhinten">
    <vt:lpwstr/>
  </property>
  <property fmtid="{D5CDD505-2E9C-101B-9397-08002B2CF9AE}" pid="76" name="mitarbeitende_spesenfür_mitarbeitende_titelmitname">
    <vt:lpwstr>Ass.-Prof. David Weisstanner</vt:lpwstr>
  </property>
  <property fmtid="{D5CDD505-2E9C-101B-9397-08002B2CF9AE}" pid="77" name="mitarbeitende_spesenfür_mitarbeitende_titelvor">
    <vt:lpwstr>Ass.-Prof.</vt:lpwstr>
  </property>
  <property fmtid="{D5CDD505-2E9C-101B-9397-08002B2CF9AE}" pid="78" name="mitarbeitende_spesenfür_mitarbeitende_url">
    <vt:lpwstr>www.unilu.ch</vt:lpwstr>
  </property>
  <property fmtid="{D5CDD505-2E9C-101B-9397-08002B2CF9AE}" pid="79" name="mitarbeitende_spesenfür_mitarbeitende_vorname">
    <vt:lpwstr>David</vt:lpwstr>
  </property>
  <property fmtid="{D5CDD505-2E9C-101B-9397-08002B2CF9AE}" pid="80" name="mitarbeitende_spesenfür_mitarbeitende_name">
    <vt:lpwstr>Weisstanner</vt:lpwstr>
  </property>
  <property fmtid="{D5CDD505-2E9C-101B-9397-08002B2CF9AE}" pid="81" name="mitarbeitende_spesenfür_mitarbeitende_personalnummer">
    <vt:lpwstr>419501</vt:lpwstr>
  </property>
  <property fmtid="{D5CDD505-2E9C-101B-9397-08002B2CF9AE}" pid="82" name="mitarbeitende_spesenfür_sourceid">
    <vt:lpwstr>59360b04-643b-4c9b-ada7-4d540978b1e5</vt:lpwstr>
  </property>
  <property fmtid="{D5CDD505-2E9C-101B-9397-08002B2CF9AE}" pid="83" name="standorte_firmaname_standorte_kennung">
    <vt:lpwstr/>
  </property>
  <property fmtid="{D5CDD505-2E9C-101B-9397-08002B2CF9AE}" pid="84" name="standorte_firmaname_standorte_firmaname">
    <vt:lpwstr/>
  </property>
  <property fmtid="{D5CDD505-2E9C-101B-9397-08002B2CF9AE}" pid="85" name="standorte_firmaname_standorte_firmastrasse">
    <vt:lpwstr/>
  </property>
  <property fmtid="{D5CDD505-2E9C-101B-9397-08002B2CF9AE}" pid="86" name="standorte_firmaname_standorte_firmapostfach">
    <vt:lpwstr/>
  </property>
  <property fmtid="{D5CDD505-2E9C-101B-9397-08002B2CF9AE}" pid="87" name="standorte_firmaname_standorte_firmaplz">
    <vt:lpwstr/>
  </property>
  <property fmtid="{D5CDD505-2E9C-101B-9397-08002B2CF9AE}" pid="88" name="standorte_firmaname_standorte_firmaort">
    <vt:lpwstr/>
  </property>
  <property fmtid="{D5CDD505-2E9C-101B-9397-08002B2CF9AE}" pid="89" name="standorte_firmaname_standorte_firmatelefon">
    <vt:lpwstr/>
  </property>
  <property fmtid="{D5CDD505-2E9C-101B-9397-08002B2CF9AE}" pid="90" name="standorte_firmaname_standorte_firmanamekurz">
    <vt:lpwstr/>
  </property>
  <property fmtid="{D5CDD505-2E9C-101B-9397-08002B2CF9AE}" pid="91" name="standorte_firmaname_standorte_firmaemail">
    <vt:lpwstr/>
  </property>
  <property fmtid="{D5CDD505-2E9C-101B-9397-08002B2CF9AE}" pid="92" name="standorte_firmaname_sourceid">
    <vt:lpwstr/>
  </property>
  <property fmtid="{D5CDD505-2E9C-101B-9397-08002B2CF9AE}" pid="93" name="templateid">
    <vt:lpwstr>c1a995e4-a046-4211-87fd-9b9e7f36f049</vt:lpwstr>
  </property>
  <property fmtid="{D5CDD505-2E9C-101B-9397-08002B2CF9AE}" pid="94" name="templateexternalid">
    <vt:lpwstr>5abd61b7-c2b8-4940-868a-27f65fb7181e</vt:lpwstr>
  </property>
  <property fmtid="{D5CDD505-2E9C-101B-9397-08002B2CF9AE}" pid="95" name="languagekey">
    <vt:lpwstr>EN</vt:lpwstr>
  </property>
  <property fmtid="{D5CDD505-2E9C-101B-9397-08002B2CF9AE}" pid="96" name="taskpaneguid">
    <vt:lpwstr>a936a9e2-b66a-46b1-823b-edcdaefdb47a</vt:lpwstr>
  </property>
  <property fmtid="{D5CDD505-2E9C-101B-9397-08002B2CF9AE}" pid="97" name="taskpaneenablemanually">
    <vt:lpwstr>Manually</vt:lpwstr>
  </property>
  <property fmtid="{D5CDD505-2E9C-101B-9397-08002B2CF9AE}" pid="98" name="templatename">
    <vt:lpwstr>PowerPoint Standard: Weitere Stichworte: Präsentation Vortrag Darbietung Referat Vorlesung Erklärung Rede_x000d_
</vt:lpwstr>
  </property>
  <property fmtid="{D5CDD505-2E9C-101B-9397-08002B2CF9AE}" pid="99" name="docugatedocumenthasdatastore">
    <vt:lpwstr>True</vt:lpwstr>
  </property>
  <property fmtid="{D5CDD505-2E9C-101B-9397-08002B2CF9AE}" pid="100" name="templatedisplayname">
    <vt:lpwstr>PowerPoint Standard</vt:lpwstr>
  </property>
  <property fmtid="{D5CDD505-2E9C-101B-9397-08002B2CF9AE}" pid="101" name="dgworkflowid">
    <vt:lpwstr>ea57d6bd-e793-44e8-a151-77696c4c27dd</vt:lpwstr>
  </property>
  <property fmtid="{D5CDD505-2E9C-101B-9397-08002B2CF9AE}" pid="102" name="docugatedocumentversion">
    <vt:lpwstr>5.17.8.0</vt:lpwstr>
  </property>
  <property fmtid="{D5CDD505-2E9C-101B-9397-08002B2CF9AE}" pid="103" name="docugatedocumentcreationpath">
    <vt:lpwstr>C:\Users\WeisstaD\AppData\Local\Temp\Docugate\Documents\m1v5adcw.pptx</vt:lpwstr>
  </property>
</Properties>
</file>